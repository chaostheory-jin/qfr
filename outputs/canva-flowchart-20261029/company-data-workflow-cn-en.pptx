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f54e2a5028436e" /><Relationship Type="http://schemas.openxmlformats.org/officeDocument/2006/relationships/extended-properties" Target="/docProps/app.xml" Id="Rf10be5697d864df0" /><Relationship Type="http://schemas.openxmlformats.org/officeDocument/2006/relationships/officeDocument" Target="/ppt/presentation.xml" Id="Rac3ebec3e7c949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caf1c0d7024912"/>
  </p:sldMasterIdLst>
  <p:notesMasterIdLst>
    <p:notesMasterId xmlns:r="http://schemas.openxmlformats.org/officeDocument/2006/relationships" r:id="R7d3938ab11fe42b8"/>
  </p:notesMasterIdLst>
  <p:sldIdLst>
    <p:sldId xmlns:r="http://schemas.openxmlformats.org/officeDocument/2006/relationships" id="256" r:id="R4d7068a3a3624b38"/>
    <p:sldId xmlns:r="http://schemas.openxmlformats.org/officeDocument/2006/relationships" id="257" r:id="Rcbb3c557c2694062"/>
  </p:sldIdLst>
  <p:sldSz cx="15240000" cy="2133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ca939188594b79" /><Relationship Type="http://schemas.openxmlformats.org/officeDocument/2006/relationships/slideMaster" Target="/ppt/slideMasters/slideMaster1.xml" Id="Rc1caf1c0d7024912" /><Relationship Type="http://schemas.openxmlformats.org/officeDocument/2006/relationships/notesMaster" Target="/ppt/notesMasters/notesMaster1.xml" Id="R7d3938ab11fe42b8" /><Relationship Type="http://schemas.openxmlformats.org/officeDocument/2006/relationships/presProps" Target="/ppt/presProps.xml" Id="Rfa0711c0181c4282" /><Relationship Type="http://schemas.openxmlformats.org/officeDocument/2006/relationships/tableStyles" Target="/ppt/tableStyles.xml" Id="Rcdd6e53328eb49d4" /><Relationship Type="http://schemas.openxmlformats.org/officeDocument/2006/relationships/slide" Target="/ppt/slides/slide1.xml" Id="R4d7068a3a3624b38" /><Relationship Type="http://schemas.openxmlformats.org/officeDocument/2006/relationships/slide" Target="/ppt/slides/slide2.xml" Id="Rcbb3c557c26940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5f899a267645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1d02e86e214e47" /><Relationship Type="http://schemas.openxmlformats.org/officeDocument/2006/relationships/notesMaster" Target="/ppt/notesMasters/notesMaster1.xml" Id="R4fa7e5fb497347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ffb7eeb92a4e7e" /><Relationship Type="http://schemas.openxmlformats.org/officeDocument/2006/relationships/notesMaster" Target="/ppt/notesMasters/notesMaster1.xml" Id="Rd811ecd56b8045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概念流程。自动处理依赖授权访问、证据质量和必要的人工确认，不能保证在证据缺失时生成完整且正确的报表。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workflow. Automation depends on authorized access, evidence quality and required human approval. Missing evidence can prevent complete and correct reporting.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ef591fde34f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f15fcdc0a4b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789d5279a4c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3eee2034f44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90f0e7edba4b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b8e82a64945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390244-F898-48FA-AA73-5AAFFA023D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8060267"/>
            <a:ext cx="12192000" cy="308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216C0A-6E59-45AC-A01F-2B25CED41E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11734800"/>
            <a:ext cx="10668000" cy="237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DA2FF4-A12D-4744-AAF1-58AD535CB6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8890000"/>
            <a:ext cx="12192000" cy="35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B696E2-8400-4EB2-B7B7-3BAA8D797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1659467"/>
            <a:ext cx="13525500" cy="260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9F311C-37F1-4CA4-B87A-62E7A755A5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5926667"/>
            <a:ext cx="13525500" cy="13275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176F3D-BC4C-4955-8AC8-B624D62F21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1659467"/>
            <a:ext cx="13525500" cy="260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E8EE3D-B618-4F53-AA25-05E4AFF61D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5926667"/>
            <a:ext cx="6286500" cy="13275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258918-4376-4BDF-A165-A404A17D2D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5926667"/>
            <a:ext cx="6286500" cy="13275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6776C9-D914-40E9-B030-5D8D16DB6C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1659467"/>
            <a:ext cx="13525500" cy="260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86357C-2050-4C7A-8D02-7B09B5D7E4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5926667"/>
            <a:ext cx="6286500" cy="13275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6f0772cc12453c" /><Relationship Type="http://schemas.openxmlformats.org/officeDocument/2006/relationships/slideLayout" Target="/ppt/slideLayouts/slideLayout1.xml" Id="Rb36c8ae9a3354638" /><Relationship Type="http://schemas.openxmlformats.org/officeDocument/2006/relationships/slideLayout" Target="/ppt/slideLayouts/slideLayout2.xml" Id="R97f661720b854b81" /><Relationship Type="http://schemas.openxmlformats.org/officeDocument/2006/relationships/slideLayout" Target="/ppt/slideLayouts/slideLayout3.xml" Id="R27539721c48e49a6" /><Relationship Type="http://schemas.openxmlformats.org/officeDocument/2006/relationships/slideLayout" Target="/ppt/slideLayouts/slideLayout4.xml" Id="R2011b1638c2d422e" /><Relationship Type="http://schemas.openxmlformats.org/officeDocument/2006/relationships/slideLayout" Target="/ppt/slideLayouts/slideLayout5.xml" Id="R6ccd128f0eef4394" /><Relationship Type="http://schemas.openxmlformats.org/officeDocument/2006/relationships/slideLayout" Target="/ppt/slideLayouts/slideLayout6.xml" Id="Rf043a984664c4c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6c8ae9a3354638"/>
    <p:sldLayoutId xmlns:r="http://schemas.openxmlformats.org/officeDocument/2006/relationships" id="2147483650" r:id="R97f661720b854b81"/>
    <p:sldLayoutId xmlns:r="http://schemas.openxmlformats.org/officeDocument/2006/relationships" id="2147483651" r:id="R27539721c48e49a6"/>
    <p:sldLayoutId xmlns:r="http://schemas.openxmlformats.org/officeDocument/2006/relationships" id="2147483652" r:id="R2011b1638c2d422e"/>
    <p:sldLayoutId xmlns:r="http://schemas.openxmlformats.org/officeDocument/2006/relationships" id="2147483653" r:id="R6ccd128f0eef4394"/>
    <p:sldLayoutId xmlns:r="http://schemas.openxmlformats.org/officeDocument/2006/relationships" id="2147483654" r:id="Rf043a984664c4c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a2afd2ae764a28" /><Relationship Type="http://schemas.openxmlformats.org/officeDocument/2006/relationships/notesSlide" Target="/ppt/notesSlides/notesSlide1.xml" Id="Rf88710da6a524b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44677f13654e10" /><Relationship Type="http://schemas.openxmlformats.org/officeDocument/2006/relationships/notesSlide" Target="/ppt/notesSlides/notesSlide2.xml" Id="R08f1531abbba4b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2" name="publish-operations-2">
            <a:extLst xmlns:a="http://schemas.openxmlformats.org/drawingml/2006/main">
              <a:ext uri="{FF2B5EF4-FFF2-40B4-BE49-F238E27FC236}">
                <a16:creationId xmlns:a16="http://schemas.microsoft.com/office/drawing/2014/main" id="{59B49AE5-C21F-4883-B27F-187847444CE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668250" y="184308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101" name="publish-operations-1">
            <a:extLst xmlns:a="http://schemas.openxmlformats.org/drawingml/2006/main">
              <a:ext uri="{FF2B5EF4-FFF2-40B4-BE49-F238E27FC236}">
                <a16:creationId xmlns:a16="http://schemas.microsoft.com/office/drawing/2014/main" id="{D67294FA-D3A7-4446-A541-2F7723CC92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24500" y="18430875"/>
            <a:ext cx="7143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100" name="publish-operations-0">
            <a:extLst xmlns:a="http://schemas.openxmlformats.org/drawingml/2006/main">
              <a:ext uri="{FF2B5EF4-FFF2-40B4-BE49-F238E27FC236}">
                <a16:creationId xmlns:a16="http://schemas.microsoft.com/office/drawing/2014/main" id="{0F96783B-82A7-4141-A3CB-F5F6A26034E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24500" y="1824037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99" name="publish-reports-2">
            <a:extLst xmlns:a="http://schemas.openxmlformats.org/drawingml/2006/main">
              <a:ext uri="{FF2B5EF4-FFF2-40B4-BE49-F238E27FC236}">
                <a16:creationId xmlns:a16="http://schemas.microsoft.com/office/drawing/2014/main" id="{6B2767FB-76E6-4DBC-B703-745A1C85531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0" y="186690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98" name="publish-reports-1">
            <a:extLst xmlns:a="http://schemas.openxmlformats.org/drawingml/2006/main">
              <a:ext uri="{FF2B5EF4-FFF2-40B4-BE49-F238E27FC236}">
                <a16:creationId xmlns:a16="http://schemas.microsoft.com/office/drawing/2014/main" id="{0D8F93EE-AC13-4E52-8E1F-EC4B1D78827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81500" y="186690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97" name="publish-reports-0">
            <a:extLst xmlns:a="http://schemas.openxmlformats.org/drawingml/2006/main">
              <a:ext uri="{FF2B5EF4-FFF2-40B4-BE49-F238E27FC236}">
                <a16:creationId xmlns:a16="http://schemas.microsoft.com/office/drawing/2014/main" id="{B831FDB3-97A9-4828-A715-3DECD32D2B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81500" y="182403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96" name="publish-structure-2">
            <a:extLst xmlns:a="http://schemas.openxmlformats.org/drawingml/2006/main">
              <a:ext uri="{FF2B5EF4-FFF2-40B4-BE49-F238E27FC236}">
                <a16:creationId xmlns:a16="http://schemas.microsoft.com/office/drawing/2014/main" id="{8C4B9589-46EF-430B-BA6C-F6AE396A8D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71750" y="189547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95" name="publish-structure-1">
            <a:extLst xmlns:a="http://schemas.openxmlformats.org/drawingml/2006/main">
              <a:ext uri="{FF2B5EF4-FFF2-40B4-BE49-F238E27FC236}">
                <a16:creationId xmlns:a16="http://schemas.microsoft.com/office/drawing/2014/main" id="{6595D0B1-0F56-4EA8-8023-D1A4B6E756C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571750" y="18954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94" name="publish-structure-0">
            <a:extLst xmlns:a="http://schemas.openxmlformats.org/drawingml/2006/main">
              <a:ext uri="{FF2B5EF4-FFF2-40B4-BE49-F238E27FC236}">
                <a16:creationId xmlns:a16="http://schemas.microsoft.com/office/drawing/2014/main" id="{B2019F2F-34EC-4201-994A-2D9B2860BAB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38500" y="182403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92" name="review-facts-2">
            <a:extLst xmlns:a="http://schemas.openxmlformats.org/drawingml/2006/main">
              <a:ext uri="{FF2B5EF4-FFF2-40B4-BE49-F238E27FC236}">
                <a16:creationId xmlns:a16="http://schemas.microsoft.com/office/drawing/2014/main" id="{0DCE8EA9-F81E-4844-85EA-69CD8948DAA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8858250" y="9258300"/>
            <a:ext cx="5905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dash"/>
            <a:tailEnd type="triangle" w="med" len="med"/>
          </a:ln>
        </p:spPr>
      </p:cxnSp>
      <p:cxnSp>
        <p:nvCxnSpPr>
          <p:cNvPr id="91" name="review-facts-1">
            <a:extLst xmlns:a="http://schemas.openxmlformats.org/drawingml/2006/main">
              <a:ext uri="{FF2B5EF4-FFF2-40B4-BE49-F238E27FC236}">
                <a16:creationId xmlns:a16="http://schemas.microsoft.com/office/drawing/2014/main" id="{5C744C60-ECC8-49BC-976D-B1FD5E9FF5F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4763750" y="9258300"/>
            <a:ext cx="0" cy="8239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dash"/>
            <a:tailEnd type="none" w="med" len="med"/>
          </a:ln>
        </p:spPr>
      </p:cxnSp>
      <p:cxnSp>
        <p:nvCxnSpPr>
          <p:cNvPr id="90" name="review-facts-0">
            <a:extLst xmlns:a="http://schemas.openxmlformats.org/drawingml/2006/main">
              <a:ext uri="{FF2B5EF4-FFF2-40B4-BE49-F238E27FC236}">
                <a16:creationId xmlns:a16="http://schemas.microsoft.com/office/drawing/2014/main" id="{9B91CFF5-3345-4143-8A44-73CC650476B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001750" y="174974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dash"/>
            <a:tailEnd type="none" w="med" len="med"/>
          </a:ln>
        </p:spPr>
      </p:cxnSp>
      <p:cxnSp>
        <p:nvCxnSpPr>
          <p:cNvPr id="87" name="checks-review-1">
            <a:extLst xmlns:a="http://schemas.openxmlformats.org/drawingml/2006/main">
              <a:ext uri="{FF2B5EF4-FFF2-40B4-BE49-F238E27FC236}">
                <a16:creationId xmlns:a16="http://schemas.microsoft.com/office/drawing/2014/main" id="{3A2A3D6D-8B8B-4AF7-BB0C-2CBEBEF8069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715750" y="15287625"/>
            <a:ext cx="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86" name="checks-review-0">
            <a:extLst xmlns:a="http://schemas.openxmlformats.org/drawingml/2006/main">
              <a:ext uri="{FF2B5EF4-FFF2-40B4-BE49-F238E27FC236}">
                <a16:creationId xmlns:a16="http://schemas.microsoft.com/office/drawing/2014/main" id="{D18D6580-210D-4DFC-92C3-00D748391D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15287625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85" name="checks-publish-0">
            <a:extLst xmlns:a="http://schemas.openxmlformats.org/drawingml/2006/main">
              <a:ext uri="{FF2B5EF4-FFF2-40B4-BE49-F238E27FC236}">
                <a16:creationId xmlns:a16="http://schemas.microsoft.com/office/drawing/2014/main" id="{EBCD566E-B755-4FFA-8B57-722C4A42948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81500" y="160020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84" name="ledger-checks-2">
            <a:extLst xmlns:a="http://schemas.openxmlformats.org/drawingml/2006/main">
              <a:ext uri="{FF2B5EF4-FFF2-40B4-BE49-F238E27FC236}">
                <a16:creationId xmlns:a16="http://schemas.microsoft.com/office/drawing/2014/main" id="{555AAEDE-E38C-44E7-B4E7-1C3FD3AF00A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62750" y="142875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83" name="ledger-checks-1">
            <a:extLst xmlns:a="http://schemas.openxmlformats.org/drawingml/2006/main">
              <a:ext uri="{FF2B5EF4-FFF2-40B4-BE49-F238E27FC236}">
                <a16:creationId xmlns:a16="http://schemas.microsoft.com/office/drawing/2014/main" id="{403A8B55-E6C7-4841-9DDF-CB38EEB37AD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762750" y="1428750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82" name="ledger-checks-0">
            <a:extLst xmlns:a="http://schemas.openxmlformats.org/drawingml/2006/main">
              <a:ext uri="{FF2B5EF4-FFF2-40B4-BE49-F238E27FC236}">
                <a16:creationId xmlns:a16="http://schemas.microsoft.com/office/drawing/2014/main" id="{C43FCDD0-5026-41AB-9AA2-65FDF60C19C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39125" y="139541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81" name="org-checks-2">
            <a:extLst xmlns:a="http://schemas.openxmlformats.org/drawingml/2006/main">
              <a:ext uri="{FF2B5EF4-FFF2-40B4-BE49-F238E27FC236}">
                <a16:creationId xmlns:a16="http://schemas.microsoft.com/office/drawing/2014/main" id="{F8B3AAD4-F189-4786-9967-FD833A4EBCA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86250" y="142875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80" name="org-checks-1">
            <a:extLst xmlns:a="http://schemas.openxmlformats.org/drawingml/2006/main">
              <a:ext uri="{FF2B5EF4-FFF2-40B4-BE49-F238E27FC236}">
                <a16:creationId xmlns:a16="http://schemas.microsoft.com/office/drawing/2014/main" id="{AF6BC676-3A39-41DF-88F4-E1A49DB151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09875" y="1428750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79" name="org-checks-0">
            <a:extLst xmlns:a="http://schemas.openxmlformats.org/drawingml/2006/main">
              <a:ext uri="{FF2B5EF4-FFF2-40B4-BE49-F238E27FC236}">
                <a16:creationId xmlns:a16="http://schemas.microsoft.com/office/drawing/2014/main" id="{B90DB52B-6858-4850-894E-2D29EAA4F3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09875" y="139541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78" name="settings-ledger-2">
            <a:extLst xmlns:a="http://schemas.openxmlformats.org/drawingml/2006/main">
              <a:ext uri="{FF2B5EF4-FFF2-40B4-BE49-F238E27FC236}">
                <a16:creationId xmlns:a16="http://schemas.microsoft.com/office/drawing/2014/main" id="{80F33C24-3698-480E-AAC6-AE614A6D066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0" y="122872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77" name="settings-ledger-1">
            <a:extLst xmlns:a="http://schemas.openxmlformats.org/drawingml/2006/main">
              <a:ext uri="{FF2B5EF4-FFF2-40B4-BE49-F238E27FC236}">
                <a16:creationId xmlns:a16="http://schemas.microsoft.com/office/drawing/2014/main" id="{A39BA4B9-88DD-4288-A867-0CF2EEC6617F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9525000" y="122872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76" name="settings-ledger-0">
            <a:extLst xmlns:a="http://schemas.openxmlformats.org/drawingml/2006/main">
              <a:ext uri="{FF2B5EF4-FFF2-40B4-BE49-F238E27FC236}">
                <a16:creationId xmlns:a16="http://schemas.microsoft.com/office/drawing/2014/main" id="{7378F792-62B3-4684-A968-6300EEF2787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573000" y="1195387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75" name="links-ledger-0">
            <a:extLst xmlns:a="http://schemas.openxmlformats.org/drawingml/2006/main">
              <a:ext uri="{FF2B5EF4-FFF2-40B4-BE49-F238E27FC236}">
                <a16:creationId xmlns:a16="http://schemas.microsoft.com/office/drawing/2014/main" id="{E37CCB6D-FB30-4F22-BD1F-7EF8E0C92EF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39125" y="119538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74" name="facts-links-2">
            <a:extLst xmlns:a="http://schemas.openxmlformats.org/drawingml/2006/main">
              <a:ext uri="{FF2B5EF4-FFF2-40B4-BE49-F238E27FC236}">
                <a16:creationId xmlns:a16="http://schemas.microsoft.com/office/drawing/2014/main" id="{C6A69546-67F3-41A1-8B57-1378FD956D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39125" y="102870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73" name="facts-links-1">
            <a:extLst xmlns:a="http://schemas.openxmlformats.org/drawingml/2006/main">
              <a:ext uri="{FF2B5EF4-FFF2-40B4-BE49-F238E27FC236}">
                <a16:creationId xmlns:a16="http://schemas.microsoft.com/office/drawing/2014/main" id="{5FD00309-4143-426C-A7DB-40290AD8C4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72250" y="1028700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72" name="facts-links-0">
            <a:extLst xmlns:a="http://schemas.openxmlformats.org/drawingml/2006/main">
              <a:ext uri="{FF2B5EF4-FFF2-40B4-BE49-F238E27FC236}">
                <a16:creationId xmlns:a16="http://schemas.microsoft.com/office/drawing/2014/main" id="{8F669BF0-ACC4-4465-9C0F-E19AFA69166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72250" y="99536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71" name="facts-org-1">
            <a:extLst xmlns:a="http://schemas.openxmlformats.org/drawingml/2006/main">
              <a:ext uri="{FF2B5EF4-FFF2-40B4-BE49-F238E27FC236}">
                <a16:creationId xmlns:a16="http://schemas.microsoft.com/office/drawing/2014/main" id="{0FA87D52-D086-4080-8521-5BFAC86E2D8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09875" y="9258300"/>
            <a:ext cx="0" cy="33147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70" name="facts-org-0">
            <a:extLst xmlns:a="http://schemas.openxmlformats.org/drawingml/2006/main">
              <a:ext uri="{FF2B5EF4-FFF2-40B4-BE49-F238E27FC236}">
                <a16:creationId xmlns:a16="http://schemas.microsoft.com/office/drawing/2014/main" id="{246C9FF5-04C1-4004-B852-07F2EE9D087C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809875" y="925830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69B277F-CD0A-4785-9A77-E2DCBC6F5FB0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572250" y="81438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tailEnd type="triangle" w="med" len="med"/>
          </a:ln>
        </p:spPr>
      </p:cxnSp>
      <p:cxnSp>
        <p:nvCxn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5DF701-3243-4604-94FC-162257D17055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572250" y="63341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tailEnd type="triangle" w="med" len="med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E70C34-CF68-4556-B102-932F9B12526B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572250" y="45243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tailEnd type="triangle" w="med" len="med"/>
          </a:ln>
        </p:spPr>
      </p:cxnSp>
      <p:cxnSp>
        <p:nvCxnSpPr>
          <p:cNvPr id="66" name="updates-intake-2">
            <a:extLst xmlns:a="http://schemas.openxmlformats.org/drawingml/2006/main">
              <a:ext uri="{FF2B5EF4-FFF2-40B4-BE49-F238E27FC236}">
                <a16:creationId xmlns:a16="http://schemas.microsoft.com/office/drawing/2014/main" id="{C6717B83-2449-4DA7-A06D-05F3067F31A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572500" y="29051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dash"/>
            <a:tailEnd type="triangle" w="med" len="med"/>
          </a:ln>
        </p:spPr>
      </p:cxnSp>
      <p:cxnSp>
        <p:nvCxnSpPr>
          <p:cNvPr id="65" name="updates-intake-1">
            <a:extLst xmlns:a="http://schemas.openxmlformats.org/drawingml/2006/main">
              <a:ext uri="{FF2B5EF4-FFF2-40B4-BE49-F238E27FC236}">
                <a16:creationId xmlns:a16="http://schemas.microsoft.com/office/drawing/2014/main" id="{067F08EB-DAD0-46A8-A545-67905358CB4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8572500" y="2905125"/>
            <a:ext cx="42386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dash"/>
            <a:tailEnd type="none" w="med" len="med"/>
          </a:ln>
        </p:spPr>
      </p:cxnSp>
      <p:cxnSp>
        <p:nvCxnSpPr>
          <p:cNvPr id="64" name="updates-intake-0">
            <a:extLst xmlns:a="http://schemas.openxmlformats.org/drawingml/2006/main">
              <a:ext uri="{FF2B5EF4-FFF2-40B4-BE49-F238E27FC236}">
                <a16:creationId xmlns:a16="http://schemas.microsoft.com/office/drawing/2014/main" id="{222096C2-3DF3-417A-91F8-D94C4CE025D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811125" y="24765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dash"/>
            <a:tailEnd type="none" w="med" len="med"/>
          </a:ln>
        </p:spPr>
      </p:cxnSp>
      <p:cxnSp>
        <p:nvCxnSpPr>
          <p:cNvPr id="63" name="people-intake-2">
            <a:extLst xmlns:a="http://schemas.openxmlformats.org/drawingml/2006/main">
              <a:ext uri="{FF2B5EF4-FFF2-40B4-BE49-F238E27FC236}">
                <a16:creationId xmlns:a16="http://schemas.microsoft.com/office/drawing/2014/main" id="{6BDCEFFB-CA43-48D2-9515-D085280C10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715250" y="280987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62" name="people-intake-1">
            <a:extLst xmlns:a="http://schemas.openxmlformats.org/drawingml/2006/main">
              <a:ext uri="{FF2B5EF4-FFF2-40B4-BE49-F238E27FC236}">
                <a16:creationId xmlns:a16="http://schemas.microsoft.com/office/drawing/2014/main" id="{D90053D2-442D-46CB-A027-5DFDB60A84B1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715250" y="28098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61" name="people-intake-0">
            <a:extLst xmlns:a="http://schemas.openxmlformats.org/drawingml/2006/main">
              <a:ext uri="{FF2B5EF4-FFF2-40B4-BE49-F238E27FC236}">
                <a16:creationId xmlns:a16="http://schemas.microsoft.com/office/drawing/2014/main" id="{4CB40BD5-C11C-48AF-832C-9E2DB2E5A71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53500" y="24765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60" name="transactions-intake-1">
            <a:extLst xmlns:a="http://schemas.openxmlformats.org/drawingml/2006/main">
              <a:ext uri="{FF2B5EF4-FFF2-40B4-BE49-F238E27FC236}">
                <a16:creationId xmlns:a16="http://schemas.microsoft.com/office/drawing/2014/main" id="{5C75BA59-3C2C-4067-81C2-87D266813B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72250" y="24765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59" name="transactions-intake-0">
            <a:extLst xmlns:a="http://schemas.openxmlformats.org/drawingml/2006/main">
              <a:ext uri="{FF2B5EF4-FFF2-40B4-BE49-F238E27FC236}">
                <a16:creationId xmlns:a16="http://schemas.microsoft.com/office/drawing/2014/main" id="{37C75C33-48F1-4A9A-A216-4726D7D9E1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29250" y="2476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58" name="internal-intake-2">
            <a:extLst xmlns:a="http://schemas.openxmlformats.org/drawingml/2006/main">
              <a:ext uri="{FF2B5EF4-FFF2-40B4-BE49-F238E27FC236}">
                <a16:creationId xmlns:a16="http://schemas.microsoft.com/office/drawing/2014/main" id="{CCCE0532-2EBB-488A-9ACC-197B5B6E633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29250" y="280987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57" name="internal-intake-1">
            <a:extLst xmlns:a="http://schemas.openxmlformats.org/drawingml/2006/main">
              <a:ext uri="{FF2B5EF4-FFF2-40B4-BE49-F238E27FC236}">
                <a16:creationId xmlns:a16="http://schemas.microsoft.com/office/drawing/2014/main" id="{EF967CCC-9CCE-44D1-A3C4-3C01B4C5B93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05000" y="2809875"/>
            <a:ext cx="3524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56" name="internal-intake-0">
            <a:extLst xmlns:a="http://schemas.openxmlformats.org/drawingml/2006/main">
              <a:ext uri="{FF2B5EF4-FFF2-40B4-BE49-F238E27FC236}">
                <a16:creationId xmlns:a16="http://schemas.microsoft.com/office/drawing/2014/main" id="{FB54321C-84B7-4DF4-B372-4BA67F2063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05000" y="24765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sp>
        <p:nvSpPr>
          <p:cNvPr id="103" name="diagram-title">
            <a:extLst xmlns:a="http://schemas.openxmlformats.org/drawingml/2006/main">
              <a:ext uri="{FF2B5EF4-FFF2-40B4-BE49-F238E27FC236}">
                <a16:creationId xmlns:a16="http://schemas.microsoft.com/office/drawing/2014/main" id="{6BA3359E-18EF-41F0-BD19-41B8BB2D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1447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3150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3150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3150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3150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3150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3150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3150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3150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3150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3150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公司数据整合与报表生成流程</a:t>
            </a:r>
          </a:p>
        </p:txBody>
      </p:sp>
      <p:sp>
        <p:nvSpPr>
          <p:cNvPr id="2" name="internal">
            <a:extLst xmlns:a="http://schemas.openxmlformats.org/drawingml/2006/main">
              <a:ext uri="{FF2B5EF4-FFF2-40B4-BE49-F238E27FC236}">
                <a16:creationId xmlns:a16="http://schemas.microsoft.com/office/drawing/2014/main" id="{6334129D-9A69-4109-9F19-7491B9CE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30480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E7DFD1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3" name="internal-title">
            <a:extLst xmlns:a="http://schemas.openxmlformats.org/drawingml/2006/main">
              <a:ext uri="{FF2B5EF4-FFF2-40B4-BE49-F238E27FC236}">
                <a16:creationId xmlns:a16="http://schemas.microsoft.com/office/drawing/2014/main" id="{FF19907E-94C0-4A5A-988E-E5A4434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内部资料</a:t>
            </a:r>
          </a:p>
        </p:txBody>
      </p:sp>
      <p:sp>
        <p:nvSpPr>
          <p:cNvPr id="4" name="internal-body">
            <a:extLst xmlns:a="http://schemas.openxmlformats.org/drawingml/2006/main">
              <a:ext uri="{FF2B5EF4-FFF2-40B4-BE49-F238E27FC236}">
                <a16:creationId xmlns:a16="http://schemas.microsoft.com/office/drawing/2014/main" id="{3A6C6058-4539-4505-9E0E-0CB15B73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管理报表、流程图、制度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业务说明</a:t>
            </a:r>
          </a:p>
        </p:txBody>
      </p:sp>
      <p:sp>
        <p:nvSpPr>
          <p:cNvPr id="5" name="transactions">
            <a:extLst xmlns:a="http://schemas.openxmlformats.org/drawingml/2006/main">
              <a:ext uri="{FF2B5EF4-FFF2-40B4-BE49-F238E27FC236}">
                <a16:creationId xmlns:a16="http://schemas.microsoft.com/office/drawing/2014/main" id="{E0EE136F-391E-4375-A901-E05CA960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43000"/>
            <a:ext cx="32385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E7DFD1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6" name="transactions-title">
            <a:extLst xmlns:a="http://schemas.openxmlformats.org/drawingml/2006/main">
              <a:ext uri="{FF2B5EF4-FFF2-40B4-BE49-F238E27FC236}">
                <a16:creationId xmlns:a16="http://schemas.microsoft.com/office/drawing/2014/main" id="{3FB9EB91-5472-4FBE-91BC-FBA07644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2573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交易资料</a:t>
            </a:r>
          </a:p>
        </p:txBody>
      </p:sp>
      <p:sp>
        <p:nvSpPr>
          <p:cNvPr id="7" name="transactions-body">
            <a:extLst xmlns:a="http://schemas.openxmlformats.org/drawingml/2006/main">
              <a:ext uri="{FF2B5EF4-FFF2-40B4-BE49-F238E27FC236}">
                <a16:creationId xmlns:a16="http://schemas.microsoft.com/office/drawing/2014/main" id="{35741EF0-1258-447D-88A3-6BF6514E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28775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银行流水、转账记录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发票与合同</a:t>
            </a:r>
          </a:p>
        </p:txBody>
      </p:sp>
      <p:sp>
        <p:nvSpPr>
          <p:cNvPr id="8" name="people">
            <a:extLst xmlns:a="http://schemas.openxmlformats.org/drawingml/2006/main">
              <a:ext uri="{FF2B5EF4-FFF2-40B4-BE49-F238E27FC236}">
                <a16:creationId xmlns:a16="http://schemas.microsoft.com/office/drawing/2014/main" id="{2E17ACE1-1A7C-4AB9-B27F-7EB024D0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0480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E7DFD1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9" name="people-title">
            <a:extLst xmlns:a="http://schemas.openxmlformats.org/drawingml/2006/main">
              <a:ext uri="{FF2B5EF4-FFF2-40B4-BE49-F238E27FC236}">
                <a16:creationId xmlns:a16="http://schemas.microsoft.com/office/drawing/2014/main" id="{21819141-1135-4020-8E89-C020C00C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573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人员资料</a:t>
            </a:r>
          </a:p>
        </p:txBody>
      </p:sp>
      <p:sp>
        <p:nvSpPr>
          <p:cNvPr id="10" name="people-body">
            <a:extLst xmlns:a="http://schemas.openxmlformats.org/drawingml/2006/main">
              <a:ext uri="{FF2B5EF4-FFF2-40B4-BE49-F238E27FC236}">
                <a16:creationId xmlns:a16="http://schemas.microsoft.com/office/drawing/2014/main" id="{43050086-A97F-4C0C-8A44-B4C697D5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28775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员工、部门、岗位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工资单</a:t>
            </a:r>
          </a:p>
        </p:txBody>
      </p:sp>
      <p:sp>
        <p:nvSpPr>
          <p:cNvPr id="11" name="updates">
            <a:extLst xmlns:a="http://schemas.openxmlformats.org/drawingml/2006/main">
              <a:ext uri="{FF2B5EF4-FFF2-40B4-BE49-F238E27FC236}">
                <a16:creationId xmlns:a16="http://schemas.microsoft.com/office/drawing/2014/main" id="{1927E45C-6194-4B33-9EDB-B5DDF776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43000"/>
            <a:ext cx="333375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DED9E6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12" name="updates-title">
            <a:extLst xmlns:a="http://schemas.openxmlformats.org/drawingml/2006/main">
              <a:ext uri="{FF2B5EF4-FFF2-40B4-BE49-F238E27FC236}">
                <a16:creationId xmlns:a16="http://schemas.microsoft.com/office/drawing/2014/main" id="{F0C7992D-5F62-45DE-820D-23E23459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25730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新资料持续进入</a:t>
            </a:r>
          </a:p>
        </p:txBody>
      </p:sp>
      <p:sp>
        <p:nvSpPr>
          <p:cNvPr id="13" name="updates-body">
            <a:extLst xmlns:a="http://schemas.openxmlformats.org/drawingml/2006/main">
              <a:ext uri="{FF2B5EF4-FFF2-40B4-BE49-F238E27FC236}">
                <a16:creationId xmlns:a16="http://schemas.microsoft.com/office/drawing/2014/main" id="{6653DE47-8AA2-4B47-A507-271CAAA9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628775"/>
            <a:ext cx="3067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增量更新，重查受影响项目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保留已发布版本</a:t>
            </a:r>
          </a:p>
        </p:txBody>
      </p:sp>
      <p:sp>
        <p:nvSpPr>
          <p:cNvPr id="14" name="intake">
            <a:extLst xmlns:a="http://schemas.openxmlformats.org/drawingml/2006/main">
              <a:ext uri="{FF2B5EF4-FFF2-40B4-BE49-F238E27FC236}">
                <a16:creationId xmlns:a16="http://schemas.microsoft.com/office/drawing/2014/main" id="{9A92ACAD-D855-4022-8B83-F6EC5238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457200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BE3E7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15" name="intake-title">
            <a:extLst xmlns:a="http://schemas.openxmlformats.org/drawingml/2006/main">
              <a:ext uri="{FF2B5EF4-FFF2-40B4-BE49-F238E27FC236}">
                <a16:creationId xmlns:a16="http://schemas.microsoft.com/office/drawing/2014/main" id="{A3EAC3FC-874C-48F9-B2FB-86AA4241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575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1 统一接入与证据归档</a:t>
            </a:r>
          </a:p>
        </p:txBody>
      </p:sp>
      <p:sp>
        <p:nvSpPr>
          <p:cNvPr id="16" name="intake-body">
            <a:extLst xmlns:a="http://schemas.openxmlformats.org/drawingml/2006/main">
              <a:ext uri="{FF2B5EF4-FFF2-40B4-BE49-F238E27FC236}">
                <a16:creationId xmlns:a16="http://schemas.microsoft.com/office/drawing/2014/main" id="{57F8B932-1913-408F-9BC4-B1A53B04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025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授权读取、上传或系统连接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保留原件、来源、版本及访问权限</a:t>
            </a:r>
          </a:p>
        </p:txBody>
      </p:sp>
      <p:sp>
        <p:nvSpPr>
          <p:cNvPr id="17" name="extract">
            <a:extLst xmlns:a="http://schemas.openxmlformats.org/drawingml/2006/main">
              <a:ext uri="{FF2B5EF4-FFF2-40B4-BE49-F238E27FC236}">
                <a16:creationId xmlns:a16="http://schemas.microsoft.com/office/drawing/2014/main" id="{4A5A5056-0E65-4C51-A344-A3B40193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457200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BE3E7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18" name="extract-title">
            <a:extLst xmlns:a="http://schemas.openxmlformats.org/drawingml/2006/main">
              <a:ext uri="{FF2B5EF4-FFF2-40B4-BE49-F238E27FC236}">
                <a16:creationId xmlns:a16="http://schemas.microsoft.com/office/drawing/2014/main" id="{47F372FA-AEF8-46F8-9444-3C343D95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6730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2 AI 识别与理解</a:t>
            </a:r>
          </a:p>
        </p:txBody>
      </p:sp>
      <p:sp>
        <p:nvSpPr>
          <p:cNvPr id="19" name="extract-body">
            <a:extLst xmlns:a="http://schemas.openxmlformats.org/drawingml/2006/main">
              <a:ext uri="{FF2B5EF4-FFF2-40B4-BE49-F238E27FC236}">
                <a16:creationId xmlns:a16="http://schemas.microsoft.com/office/drawing/2014/main" id="{B2B4A23F-EDEC-4A35-AEF6-EF5AB47A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38775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OCR、表格与文档解析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提取主体、金额、日期及业务关系</a:t>
            </a:r>
          </a:p>
        </p:txBody>
      </p:sp>
      <p:sp>
        <p:nvSpPr>
          <p:cNvPr id="20" name="normalize">
            <a:extLst xmlns:a="http://schemas.openxmlformats.org/drawingml/2006/main">
              <a:ext uri="{FF2B5EF4-FFF2-40B4-BE49-F238E27FC236}">
                <a16:creationId xmlns:a16="http://schemas.microsoft.com/office/drawing/2014/main" id="{F44D52FB-A890-44A5-9104-39B93CE8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762750"/>
            <a:ext cx="457200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BE3E7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21" name="normalize-title">
            <a:extLst xmlns:a="http://schemas.openxmlformats.org/drawingml/2006/main">
              <a:ext uri="{FF2B5EF4-FFF2-40B4-BE49-F238E27FC236}">
                <a16:creationId xmlns:a16="http://schemas.microsoft.com/office/drawing/2014/main" id="{7015393C-2FE2-48FA-9AFF-A396D7CF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8770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3 数据清洗与身份关联</a:t>
            </a:r>
          </a:p>
        </p:txBody>
      </p:sp>
      <p:sp>
        <p:nvSpPr>
          <p:cNvPr id="22" name="normalize-body">
            <a:extLst xmlns:a="http://schemas.openxmlformats.org/drawingml/2006/main">
              <a:ext uri="{FF2B5EF4-FFF2-40B4-BE49-F238E27FC236}">
                <a16:creationId xmlns:a16="http://schemas.microsoft.com/office/drawing/2014/main" id="{0B9756C7-E225-4BF1-A80E-CCF6EBC4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248525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去重、统一格式、区分币种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关联同一员工、客户、供应商和账户</a:t>
            </a:r>
          </a:p>
        </p:txBody>
      </p:sp>
      <p:sp>
        <p:nvSpPr>
          <p:cNvPr id="23" name="facts">
            <a:extLst xmlns:a="http://schemas.openxmlformats.org/drawingml/2006/main">
              <a:ext uri="{FF2B5EF4-FFF2-40B4-BE49-F238E27FC236}">
                <a16:creationId xmlns:a16="http://schemas.microsoft.com/office/drawing/2014/main" id="{69E4C968-0DE8-41F6-AB49-443A6458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8572500"/>
            <a:ext cx="457200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8E1D4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24" name="facts-title">
            <a:extLst xmlns:a="http://schemas.openxmlformats.org/drawingml/2006/main">
              <a:ext uri="{FF2B5EF4-FFF2-40B4-BE49-F238E27FC236}">
                <a16:creationId xmlns:a16="http://schemas.microsoft.com/office/drawing/2014/main" id="{63FDA4AF-31F3-45AE-B027-0CD415C4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868680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4 公司事实与事件模型</a:t>
            </a:r>
          </a:p>
        </p:txBody>
      </p:sp>
      <p:sp>
        <p:nvSpPr>
          <p:cNvPr id="25" name="facts-body">
            <a:extLst xmlns:a="http://schemas.openxmlformats.org/drawingml/2006/main">
              <a:ext uri="{FF2B5EF4-FFF2-40B4-BE49-F238E27FC236}">
                <a16:creationId xmlns:a16="http://schemas.microsoft.com/office/drawing/2014/main" id="{43B4EACE-2BF2-4525-9087-C5488DF3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9058275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谁属于谁，谁向谁付款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识别对应的业务与事件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每条事实关联原始证据与可信度</a:t>
            </a:r>
          </a:p>
        </p:txBody>
      </p:sp>
      <p:sp>
        <p:nvSpPr>
          <p:cNvPr id="26" name="links">
            <a:extLst xmlns:a="http://schemas.openxmlformats.org/drawingml/2006/main">
              <a:ext uri="{FF2B5EF4-FFF2-40B4-BE49-F238E27FC236}">
                <a16:creationId xmlns:a16="http://schemas.microsoft.com/office/drawing/2014/main" id="{D5CEF127-2BD4-4F09-933C-CBE528A3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572750"/>
            <a:ext cx="40957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BE3E7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27" name="links-title">
            <a:extLst xmlns:a="http://schemas.openxmlformats.org/drawingml/2006/main">
              <a:ext uri="{FF2B5EF4-FFF2-40B4-BE49-F238E27FC236}">
                <a16:creationId xmlns:a16="http://schemas.microsoft.com/office/drawing/2014/main" id="{5E12A3A7-BE92-4AE6-AB26-B99C7BC2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68705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交易证据关联</a:t>
            </a:r>
          </a:p>
        </p:txBody>
      </p:sp>
      <p:sp>
        <p:nvSpPr>
          <p:cNvPr id="28" name="links-body">
            <a:extLst xmlns:a="http://schemas.openxmlformats.org/drawingml/2006/main">
              <a:ext uri="{FF2B5EF4-FFF2-40B4-BE49-F238E27FC236}">
                <a16:creationId xmlns:a16="http://schemas.microsoft.com/office/drawing/2014/main" id="{E989783D-4489-479B-AA92-8CCCC980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58525"/>
            <a:ext cx="3829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合同、发票、付款与银行流水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员工、工资批次、工资单与付款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按业务关系关联原始证据</a:t>
            </a:r>
          </a:p>
        </p:txBody>
      </p:sp>
      <p:sp>
        <p:nvSpPr>
          <p:cNvPr id="29" name="settings">
            <a:extLst xmlns:a="http://schemas.openxmlformats.org/drawingml/2006/main">
              <a:ext uri="{FF2B5EF4-FFF2-40B4-BE49-F238E27FC236}">
                <a16:creationId xmlns:a16="http://schemas.microsoft.com/office/drawing/2014/main" id="{BC3A3308-1420-4916-AA25-A5E7AAED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0572750"/>
            <a:ext cx="342900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E7DFD1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30" name="settings-title">
            <a:extLst xmlns:a="http://schemas.openxmlformats.org/drawingml/2006/main">
              <a:ext uri="{FF2B5EF4-FFF2-40B4-BE49-F238E27FC236}">
                <a16:creationId xmlns:a16="http://schemas.microsoft.com/office/drawing/2014/main" id="{D998F1A3-0367-4043-BF72-1C569F6B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068705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基础配置与余额</a:t>
            </a:r>
          </a:p>
        </p:txBody>
      </p:sp>
      <p:sp>
        <p:nvSpPr>
          <p:cNvPr id="31" name="settings-body">
            <a:extLst xmlns:a="http://schemas.openxmlformats.org/drawingml/2006/main">
              <a:ext uri="{FF2B5EF4-FFF2-40B4-BE49-F238E27FC236}">
                <a16:creationId xmlns:a16="http://schemas.microsoft.com/office/drawing/2014/main" id="{37333CB9-E2CA-4D55-BACF-ECDE62BC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1058525"/>
            <a:ext cx="3162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主体范围、报表期间、币种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会计政策、科目表、期初余额</a:t>
            </a:r>
          </a:p>
        </p:txBody>
      </p:sp>
      <p:sp>
        <p:nvSpPr>
          <p:cNvPr id="32" name="org">
            <a:extLst xmlns:a="http://schemas.openxmlformats.org/drawingml/2006/main">
              <a:ext uri="{FF2B5EF4-FFF2-40B4-BE49-F238E27FC236}">
                <a16:creationId xmlns:a16="http://schemas.microsoft.com/office/drawing/2014/main" id="{3C7BEF3F-CC2D-4B3C-800E-4903B4B8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0"/>
            <a:ext cx="40957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8E1D4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33" name="org-title">
            <a:extLst xmlns:a="http://schemas.openxmlformats.org/drawingml/2006/main">
              <a:ext uri="{FF2B5EF4-FFF2-40B4-BE49-F238E27FC236}">
                <a16:creationId xmlns:a16="http://schemas.microsoft.com/office/drawing/2014/main" id="{A70DFB35-F1E7-4752-AA8E-8F66A686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68730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公司结构草稿</a:t>
            </a:r>
          </a:p>
        </p:txBody>
      </p:sp>
      <p:sp>
        <p:nvSpPr>
          <p:cNvPr id="34" name="org-body">
            <a:extLst xmlns:a="http://schemas.openxmlformats.org/drawingml/2006/main">
              <a:ext uri="{FF2B5EF4-FFF2-40B4-BE49-F238E27FC236}">
                <a16:creationId xmlns:a16="http://schemas.microsoft.com/office/drawing/2014/main" id="{CCB7387F-04BB-4542-B859-36BB00E6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058775"/>
            <a:ext cx="3829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法人关系、部门与岗位、汇报关系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业务流程、职责与审批关系</a:t>
            </a:r>
          </a:p>
        </p:txBody>
      </p:sp>
      <p:sp>
        <p:nvSpPr>
          <p:cNvPr id="35" name="ledger">
            <a:extLst xmlns:a="http://schemas.openxmlformats.org/drawingml/2006/main">
              <a:ext uri="{FF2B5EF4-FFF2-40B4-BE49-F238E27FC236}">
                <a16:creationId xmlns:a16="http://schemas.microsoft.com/office/drawing/2014/main" id="{3741002E-1DA6-4244-94FD-3936DF69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573000"/>
            <a:ext cx="40957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BE3E7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36" name="ledger-title">
            <a:extLst xmlns:a="http://schemas.openxmlformats.org/drawingml/2006/main">
              <a:ext uri="{FF2B5EF4-FFF2-40B4-BE49-F238E27FC236}">
                <a16:creationId xmlns:a16="http://schemas.microsoft.com/office/drawing/2014/main" id="{73374F1B-23F2-4253-857E-F6F10832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268730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5 生成账务草稿</a:t>
            </a:r>
          </a:p>
        </p:txBody>
      </p:sp>
      <p:sp>
        <p:nvSpPr>
          <p:cNvPr id="37" name="ledger-body">
            <a:extLst xmlns:a="http://schemas.openxmlformats.org/drawingml/2006/main">
              <a:ext uri="{FF2B5EF4-FFF2-40B4-BE49-F238E27FC236}">
                <a16:creationId xmlns:a16="http://schemas.microsoft.com/office/drawing/2014/main" id="{C14DA9E8-3F90-4722-AEA9-A2B07791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058775"/>
            <a:ext cx="3829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科目分类、业务期间、应收应付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工资分录、总账与明细账</a:t>
            </a:r>
          </a:p>
        </p:txBody>
      </p:sp>
      <p:sp>
        <p:nvSpPr>
          <p:cNvPr id="38" name="checks">
            <a:extLst xmlns:a="http://schemas.openxmlformats.org/drawingml/2006/main">
              <a:ext uri="{FF2B5EF4-FFF2-40B4-BE49-F238E27FC236}">
                <a16:creationId xmlns:a16="http://schemas.microsoft.com/office/drawing/2014/main" id="{45E75A44-B13B-42B8-9609-419B2C81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573250"/>
            <a:ext cx="47625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E8D8D3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39" name="checks-title">
            <a:extLst xmlns:a="http://schemas.openxmlformats.org/drawingml/2006/main">
              <a:ext uri="{FF2B5EF4-FFF2-40B4-BE49-F238E27FC236}">
                <a16:creationId xmlns:a16="http://schemas.microsoft.com/office/drawing/2014/main" id="{6FD949CA-60B9-41BC-982C-C1ECFE37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68755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6 证据与一致性检查</a:t>
            </a:r>
          </a:p>
        </p:txBody>
      </p:sp>
      <p:sp>
        <p:nvSpPr>
          <p:cNvPr id="40" name="checks-body">
            <a:extLst xmlns:a="http://schemas.openxmlformats.org/drawingml/2006/main">
              <a:ext uri="{FF2B5EF4-FFF2-40B4-BE49-F238E27FC236}">
                <a16:creationId xmlns:a16="http://schemas.microsoft.com/office/drawing/2014/main" id="{EF5DC924-2EDE-4E4B-93A8-D936C6DB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059025"/>
            <a:ext cx="4495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资料是否完整？金额是否一致？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是否存在关系冲突或重复记录？</a:t>
            </a:r>
          </a:p>
        </p:txBody>
      </p:sp>
      <p:sp>
        <p:nvSpPr>
          <p:cNvPr id="41" name="publish">
            <a:extLst xmlns:a="http://schemas.openxmlformats.org/drawingml/2006/main">
              <a:ext uri="{FF2B5EF4-FFF2-40B4-BE49-F238E27FC236}">
                <a16:creationId xmlns:a16="http://schemas.microsoft.com/office/drawing/2014/main" id="{E927F5C8-11F1-4122-8464-1C727BA3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764000"/>
            <a:ext cx="4572000" cy="1476375"/>
          </a:xfrm>
          <a:prstGeom xmlns:a="http://schemas.openxmlformats.org/drawingml/2006/main" prst="roundRect">
            <a:avLst>
              <a:gd name="adj" fmla="val 14194"/>
            </a:avLst>
          </a:prstGeom>
          <a:solidFill xmlns:a="http://schemas.openxmlformats.org/drawingml/2006/main">
            <a:srgbClr val="DED9E6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42" name="publish-title">
            <a:extLst xmlns:a="http://schemas.openxmlformats.org/drawingml/2006/main">
              <a:ext uri="{FF2B5EF4-FFF2-40B4-BE49-F238E27FC236}">
                <a16:creationId xmlns:a16="http://schemas.microsoft.com/office/drawing/2014/main" id="{685AF3A3-CDFC-4A45-B00F-558A7E60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87830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7 授权确认与版本发布</a:t>
            </a:r>
          </a:p>
        </p:txBody>
      </p:sp>
      <p:sp>
        <p:nvSpPr>
          <p:cNvPr id="43" name="publish-body">
            <a:extLst xmlns:a="http://schemas.openxmlformats.org/drawingml/2006/main">
              <a:ext uri="{FF2B5EF4-FFF2-40B4-BE49-F238E27FC236}">
                <a16:creationId xmlns:a16="http://schemas.microsoft.com/office/drawing/2014/main" id="{8E0F411A-D82B-4370-8A7E-651FF44B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249775"/>
            <a:ext cx="43053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区分原始事实、AI 推断和人工确认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保留审批记录与证据链</a:t>
            </a:r>
          </a:p>
        </p:txBody>
      </p:sp>
      <p:sp>
        <p:nvSpPr>
          <p:cNvPr id="44" name="review">
            <a:extLst xmlns:a="http://schemas.openxmlformats.org/drawingml/2006/main">
              <a:ext uri="{FF2B5EF4-FFF2-40B4-BE49-F238E27FC236}">
                <a16:creationId xmlns:a16="http://schemas.microsoft.com/office/drawing/2014/main" id="{8A251995-D5AF-4798-99A2-79FDE94B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764000"/>
            <a:ext cx="4572000" cy="1476375"/>
          </a:xfrm>
          <a:prstGeom xmlns:a="http://schemas.openxmlformats.org/drawingml/2006/main" prst="roundRect">
            <a:avLst>
              <a:gd name="adj" fmla="val 14194"/>
            </a:avLst>
          </a:prstGeom>
          <a:solidFill xmlns:a="http://schemas.openxmlformats.org/drawingml/2006/main">
            <a:srgbClr val="E8D8D3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45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68CEF689-705D-4ACA-ABAF-DA89D55E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87830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异常处理与人工审核</a:t>
            </a:r>
          </a:p>
        </p:txBody>
      </p:sp>
      <p:sp>
        <p:nvSpPr>
          <p:cNvPr id="46" name="review-body">
            <a:extLst xmlns:a="http://schemas.openxmlformats.org/drawingml/2006/main">
              <a:ext uri="{FF2B5EF4-FFF2-40B4-BE49-F238E27FC236}">
                <a16:creationId xmlns:a16="http://schemas.microsoft.com/office/drawing/2014/main" id="{D9713311-0C51-4DAC-AFC3-2A2D7F2B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249775"/>
            <a:ext cx="43053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补资料、修正识别、确认归属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由财务或业务负责人审核</a:t>
            </a:r>
          </a:p>
        </p:txBody>
      </p:sp>
      <p:sp>
        <p:nvSpPr>
          <p:cNvPr id="47" name="structure">
            <a:extLst xmlns:a="http://schemas.openxmlformats.org/drawingml/2006/main">
              <a:ext uri="{FF2B5EF4-FFF2-40B4-BE49-F238E27FC236}">
                <a16:creationId xmlns:a16="http://schemas.microsoft.com/office/drawing/2014/main" id="{C70EF220-4B0A-4E74-BBFD-71EC2B14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431000"/>
            <a:ext cx="43815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D8E1D4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48" name="structure-title">
            <a:extLst xmlns:a="http://schemas.openxmlformats.org/drawingml/2006/main">
              <a:ext uri="{FF2B5EF4-FFF2-40B4-BE49-F238E27FC236}">
                <a16:creationId xmlns:a16="http://schemas.microsoft.com/office/drawing/2014/main" id="{BDD14D8E-A7F3-45EC-94C6-0F6E885D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453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公司结构与流程</a:t>
            </a:r>
          </a:p>
        </p:txBody>
      </p:sp>
      <p:sp>
        <p:nvSpPr>
          <p:cNvPr id="49" name="structure-body">
            <a:extLst xmlns:a="http://schemas.openxmlformats.org/drawingml/2006/main">
              <a:ext uri="{FF2B5EF4-FFF2-40B4-BE49-F238E27FC236}">
                <a16:creationId xmlns:a16="http://schemas.microsoft.com/office/drawing/2014/main" id="{6226EF8C-BD5D-4142-8403-9C467FBA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916775"/>
            <a:ext cx="4114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组织架构图、法人关系图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业务流程图、职责与审批图</a:t>
            </a:r>
          </a:p>
        </p:txBody>
      </p:sp>
      <p:sp>
        <p:nvSpPr>
          <p:cNvPr id="50" name="reports">
            <a:extLst xmlns:a="http://schemas.openxmlformats.org/drawingml/2006/main">
              <a:ext uri="{FF2B5EF4-FFF2-40B4-BE49-F238E27FC236}">
                <a16:creationId xmlns:a16="http://schemas.microsoft.com/office/drawing/2014/main" id="{19884F0D-88DF-4033-B17D-88385383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0"/>
            <a:ext cx="45720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D8E1D4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51" name="reports-title">
            <a:extLst xmlns:a="http://schemas.openxmlformats.org/drawingml/2006/main">
              <a:ext uri="{FF2B5EF4-FFF2-40B4-BE49-F238E27FC236}">
                <a16:creationId xmlns:a16="http://schemas.microsoft.com/office/drawing/2014/main" id="{47CC75CA-E5C7-47F6-9435-779E8A4A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54530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财务报表</a:t>
            </a:r>
          </a:p>
        </p:txBody>
      </p:sp>
      <p:sp>
        <p:nvSpPr>
          <p:cNvPr id="52" name="reports-body">
            <a:extLst xmlns:a="http://schemas.openxmlformats.org/drawingml/2006/main">
              <a:ext uri="{FF2B5EF4-FFF2-40B4-BE49-F238E27FC236}">
                <a16:creationId xmlns:a16="http://schemas.microsoft.com/office/drawing/2014/main" id="{4DF3892C-BB91-480C-A3D5-7B6B4360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916775"/>
            <a:ext cx="430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利润表、资产负债表、现金流量表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逐层追溯到明细与原始凭证</a:t>
            </a:r>
          </a:p>
        </p:txBody>
      </p:sp>
      <p:sp>
        <p:nvSpPr>
          <p:cNvPr id="53" name="operations">
            <a:extLst xmlns:a="http://schemas.openxmlformats.org/drawingml/2006/main">
              <a:ext uri="{FF2B5EF4-FFF2-40B4-BE49-F238E27FC236}">
                <a16:creationId xmlns:a16="http://schemas.microsoft.com/office/drawing/2014/main" id="{EAE828F2-A0DB-4A3E-9A19-84896B67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431000"/>
            <a:ext cx="43815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D8E1D4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54" name="operations-title">
            <a:extLst xmlns:a="http://schemas.openxmlformats.org/drawingml/2006/main">
              <a:ext uri="{FF2B5EF4-FFF2-40B4-BE49-F238E27FC236}">
                <a16:creationId xmlns:a16="http://schemas.microsoft.com/office/drawing/2014/main" id="{1B4EA7E0-B941-4BFB-BFC5-781B2892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5453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20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经营与人员报表</a:t>
            </a:r>
          </a:p>
        </p:txBody>
      </p:sp>
      <p:sp>
        <p:nvSpPr>
          <p:cNvPr id="55" name="operations-body">
            <a:extLst xmlns:a="http://schemas.openxmlformats.org/drawingml/2006/main">
              <a:ext uri="{FF2B5EF4-FFF2-40B4-BE49-F238E27FC236}">
                <a16:creationId xmlns:a16="http://schemas.microsoft.com/office/drawing/2014/main" id="{171DFD1F-38CE-40A7-8669-B3940B55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916775"/>
            <a:ext cx="4114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应收应付账龄、部门成本</a:t>
            </a:r>
          </a:p>
          <a:p xmlns:a="http://schemas.openxmlformats.org/drawingml/2006/main">
            <a:pPr algn="ctr">
              <a:defRPr sz="1875" b="0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工资报表、付款清单、异常清单</a:t>
            </a:r>
          </a:p>
        </p:txBody>
      </p:sp>
      <p:sp>
        <p:nvSpPr>
          <p:cNvPr id="88" name="pass-label">
            <a:extLst xmlns:a="http://schemas.openxmlformats.org/drawingml/2006/main">
              <a:ext uri="{FF2B5EF4-FFF2-40B4-BE49-F238E27FC236}">
                <a16:creationId xmlns:a16="http://schemas.microsoft.com/office/drawing/2014/main" id="{0375D303-DADB-40D8-89E4-CB60FC3B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163925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检查通过</a:t>
            </a:r>
          </a:p>
        </p:txBody>
      </p:sp>
      <p:sp>
        <p:nvSpPr>
          <p:cNvPr id="89" name="review-label">
            <a:extLst xmlns:a="http://schemas.openxmlformats.org/drawingml/2006/main">
              <a:ext uri="{FF2B5EF4-FFF2-40B4-BE49-F238E27FC236}">
                <a16:creationId xmlns:a16="http://schemas.microsoft.com/office/drawing/2014/main" id="{A578C58E-AED0-45FE-92E5-E492C42A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63925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72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缺失、冲突或低置信度</a:t>
            </a:r>
          </a:p>
        </p:txBody>
      </p:sp>
      <p:sp>
        <p:nvSpPr>
          <p:cNvPr id="93" name="correction-label">
            <a:extLst xmlns:a="http://schemas.openxmlformats.org/drawingml/2006/main">
              <a:ext uri="{FF2B5EF4-FFF2-40B4-BE49-F238E27FC236}">
                <a16:creationId xmlns:a16="http://schemas.microsoft.com/office/drawing/2014/main" id="{1EED14DB-0AB3-4B80-B61F-62185FD2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810625"/>
            <a:ext cx="552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defPPr>
            <a:lvl1pPr algn="ctr">
              <a:defRPr sz="157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1pPr>
            <a:lvl2pPr algn="ctr">
              <a:defRPr sz="157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2pPr>
            <a:lvl3pPr algn="ctr">
              <a:defRPr sz="157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3pPr>
            <a:lvl4pPr algn="ctr">
              <a:defRPr sz="157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4pPr>
            <a:lvl5pPr algn="ctr">
              <a:defRPr sz="157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5pPr>
            <a:lvl6pPr algn="ctr">
              <a:defRPr sz="157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6pPr>
            <a:lvl7pPr algn="ctr">
              <a:defRPr sz="157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7pPr>
            <a:lvl8pPr algn="ctr">
              <a:defRPr sz="157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8pPr>
            <a:lvl9pPr algn="ctr">
              <a:defRPr sz="157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35413E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35413E"/>
                </a:solidFill>
                <a:latin typeface="Heiti SC"/>
                <a:ea typeface="Heiti SC"/>
                <a:cs typeface="Heiti SC"/>
              </a:rPr>
              <a:t>补充证据与确认修正</a:t>
            </a:r>
          </a:p>
        </p:txBody>
      </p:sp>
    </p:spTree>
    <p:extLst>
      <p:ext uri="{BB962C8B-B14F-4D97-AF65-F5344CB8AC3E}">
        <p14:creationId xmlns:p14="http://schemas.microsoft.com/office/powerpoint/2010/main" val="592866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2" name="publish-operations-2">
            <a:extLst xmlns:a="http://schemas.openxmlformats.org/drawingml/2006/main">
              <a:ext uri="{FF2B5EF4-FFF2-40B4-BE49-F238E27FC236}">
                <a16:creationId xmlns:a16="http://schemas.microsoft.com/office/drawing/2014/main" id="{C9B0F3DD-9673-48B7-B62A-73CA935665F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668250" y="184308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101" name="publish-operations-1">
            <a:extLst xmlns:a="http://schemas.openxmlformats.org/drawingml/2006/main">
              <a:ext uri="{FF2B5EF4-FFF2-40B4-BE49-F238E27FC236}">
                <a16:creationId xmlns:a16="http://schemas.microsoft.com/office/drawing/2014/main" id="{C86025AD-EFBA-498F-B92C-6996B38405F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24500" y="18430875"/>
            <a:ext cx="7143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100" name="publish-operations-0">
            <a:extLst xmlns:a="http://schemas.openxmlformats.org/drawingml/2006/main">
              <a:ext uri="{FF2B5EF4-FFF2-40B4-BE49-F238E27FC236}">
                <a16:creationId xmlns:a16="http://schemas.microsoft.com/office/drawing/2014/main" id="{8D1426E6-F05A-41D8-8F83-65649EB299C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24500" y="1824037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99" name="publish-reports-2">
            <a:extLst xmlns:a="http://schemas.openxmlformats.org/drawingml/2006/main">
              <a:ext uri="{FF2B5EF4-FFF2-40B4-BE49-F238E27FC236}">
                <a16:creationId xmlns:a16="http://schemas.microsoft.com/office/drawing/2014/main" id="{46E9DC19-9361-4346-AFE1-5827F44E307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0" y="186690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98" name="publish-reports-1">
            <a:extLst xmlns:a="http://schemas.openxmlformats.org/drawingml/2006/main">
              <a:ext uri="{FF2B5EF4-FFF2-40B4-BE49-F238E27FC236}">
                <a16:creationId xmlns:a16="http://schemas.microsoft.com/office/drawing/2014/main" id="{EC8686B4-D116-49A8-B9FB-9E0CCCDAC7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81500" y="186690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97" name="publish-reports-0">
            <a:extLst xmlns:a="http://schemas.openxmlformats.org/drawingml/2006/main">
              <a:ext uri="{FF2B5EF4-FFF2-40B4-BE49-F238E27FC236}">
                <a16:creationId xmlns:a16="http://schemas.microsoft.com/office/drawing/2014/main" id="{B9A01701-E58A-4A46-A6A0-46F739DBDCA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81500" y="182403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96" name="publish-structure-2">
            <a:extLst xmlns:a="http://schemas.openxmlformats.org/drawingml/2006/main">
              <a:ext uri="{FF2B5EF4-FFF2-40B4-BE49-F238E27FC236}">
                <a16:creationId xmlns:a16="http://schemas.microsoft.com/office/drawing/2014/main" id="{CB021B03-870B-41D1-98A5-131DFD74A7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71750" y="189547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95" name="publish-structure-1">
            <a:extLst xmlns:a="http://schemas.openxmlformats.org/drawingml/2006/main">
              <a:ext uri="{FF2B5EF4-FFF2-40B4-BE49-F238E27FC236}">
                <a16:creationId xmlns:a16="http://schemas.microsoft.com/office/drawing/2014/main" id="{EDB2E274-482D-4D98-BC33-4DC1CFE9B508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571750" y="18954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94" name="publish-structure-0">
            <a:extLst xmlns:a="http://schemas.openxmlformats.org/drawingml/2006/main">
              <a:ext uri="{FF2B5EF4-FFF2-40B4-BE49-F238E27FC236}">
                <a16:creationId xmlns:a16="http://schemas.microsoft.com/office/drawing/2014/main" id="{B750E780-C445-4DCF-8EDA-B054A536CD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38500" y="182403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92" name="review-facts-2">
            <a:extLst xmlns:a="http://schemas.openxmlformats.org/drawingml/2006/main">
              <a:ext uri="{FF2B5EF4-FFF2-40B4-BE49-F238E27FC236}">
                <a16:creationId xmlns:a16="http://schemas.microsoft.com/office/drawing/2014/main" id="{00DBD747-B067-4965-B978-F6AD0DAA743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8858250" y="9258300"/>
            <a:ext cx="5905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dash"/>
            <a:tailEnd type="triangle" w="med" len="med"/>
          </a:ln>
        </p:spPr>
      </p:cxnSp>
      <p:cxnSp>
        <p:nvCxnSpPr>
          <p:cNvPr id="91" name="review-facts-1">
            <a:extLst xmlns:a="http://schemas.openxmlformats.org/drawingml/2006/main">
              <a:ext uri="{FF2B5EF4-FFF2-40B4-BE49-F238E27FC236}">
                <a16:creationId xmlns:a16="http://schemas.microsoft.com/office/drawing/2014/main" id="{3B12F74D-56AF-4E74-87E7-2D696A90140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4763750" y="9258300"/>
            <a:ext cx="0" cy="8239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dash"/>
            <a:tailEnd type="none" w="med" len="med"/>
          </a:ln>
        </p:spPr>
      </p:cxnSp>
      <p:cxnSp>
        <p:nvCxnSpPr>
          <p:cNvPr id="90" name="review-facts-0">
            <a:extLst xmlns:a="http://schemas.openxmlformats.org/drawingml/2006/main">
              <a:ext uri="{FF2B5EF4-FFF2-40B4-BE49-F238E27FC236}">
                <a16:creationId xmlns:a16="http://schemas.microsoft.com/office/drawing/2014/main" id="{7A2750D4-5927-42B3-8879-B28C47E13D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001750" y="174974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dash"/>
            <a:tailEnd type="none" w="med" len="med"/>
          </a:ln>
        </p:spPr>
      </p:cxnSp>
      <p:cxnSp>
        <p:nvCxnSpPr>
          <p:cNvPr id="87" name="checks-review-1">
            <a:extLst xmlns:a="http://schemas.openxmlformats.org/drawingml/2006/main">
              <a:ext uri="{FF2B5EF4-FFF2-40B4-BE49-F238E27FC236}">
                <a16:creationId xmlns:a16="http://schemas.microsoft.com/office/drawing/2014/main" id="{37A06402-9590-465C-99F7-687108C9CAA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715750" y="15287625"/>
            <a:ext cx="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86" name="checks-review-0">
            <a:extLst xmlns:a="http://schemas.openxmlformats.org/drawingml/2006/main">
              <a:ext uri="{FF2B5EF4-FFF2-40B4-BE49-F238E27FC236}">
                <a16:creationId xmlns:a16="http://schemas.microsoft.com/office/drawing/2014/main" id="{EE333FB7-71A6-4B58-9414-F396E2B3A37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15287625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85" name="checks-publish-0">
            <a:extLst xmlns:a="http://schemas.openxmlformats.org/drawingml/2006/main">
              <a:ext uri="{FF2B5EF4-FFF2-40B4-BE49-F238E27FC236}">
                <a16:creationId xmlns:a16="http://schemas.microsoft.com/office/drawing/2014/main" id="{51F6DE20-9CE1-4421-9E44-5F427540D8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81500" y="160020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84" name="ledger-checks-2">
            <a:extLst xmlns:a="http://schemas.openxmlformats.org/drawingml/2006/main">
              <a:ext uri="{FF2B5EF4-FFF2-40B4-BE49-F238E27FC236}">
                <a16:creationId xmlns:a16="http://schemas.microsoft.com/office/drawing/2014/main" id="{47370DC0-2C76-43E1-9A6D-C8CE737F62B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62750" y="142875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83" name="ledger-checks-1">
            <a:extLst xmlns:a="http://schemas.openxmlformats.org/drawingml/2006/main">
              <a:ext uri="{FF2B5EF4-FFF2-40B4-BE49-F238E27FC236}">
                <a16:creationId xmlns:a16="http://schemas.microsoft.com/office/drawing/2014/main" id="{A233E754-5073-4A00-8F0E-7438C39D49C2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762750" y="1428750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82" name="ledger-checks-0">
            <a:extLst xmlns:a="http://schemas.openxmlformats.org/drawingml/2006/main">
              <a:ext uri="{FF2B5EF4-FFF2-40B4-BE49-F238E27FC236}">
                <a16:creationId xmlns:a16="http://schemas.microsoft.com/office/drawing/2014/main" id="{7853D9BB-7ACB-47DD-B57C-33E9FD03B9D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39125" y="139541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81" name="org-checks-2">
            <a:extLst xmlns:a="http://schemas.openxmlformats.org/drawingml/2006/main">
              <a:ext uri="{FF2B5EF4-FFF2-40B4-BE49-F238E27FC236}">
                <a16:creationId xmlns:a16="http://schemas.microsoft.com/office/drawing/2014/main" id="{EB30D614-A705-409F-9B16-EA2574B46A1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86250" y="142875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80" name="org-checks-1">
            <a:extLst xmlns:a="http://schemas.openxmlformats.org/drawingml/2006/main">
              <a:ext uri="{FF2B5EF4-FFF2-40B4-BE49-F238E27FC236}">
                <a16:creationId xmlns:a16="http://schemas.microsoft.com/office/drawing/2014/main" id="{CB01BAD7-81CE-4D97-AB45-D1BC0F1452D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09875" y="1428750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79" name="org-checks-0">
            <a:extLst xmlns:a="http://schemas.openxmlformats.org/drawingml/2006/main">
              <a:ext uri="{FF2B5EF4-FFF2-40B4-BE49-F238E27FC236}">
                <a16:creationId xmlns:a16="http://schemas.microsoft.com/office/drawing/2014/main" id="{7B65C70D-65D7-4B34-9FF9-D38C7151A61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09875" y="139541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78" name="settings-ledger-2">
            <a:extLst xmlns:a="http://schemas.openxmlformats.org/drawingml/2006/main">
              <a:ext uri="{FF2B5EF4-FFF2-40B4-BE49-F238E27FC236}">
                <a16:creationId xmlns:a16="http://schemas.microsoft.com/office/drawing/2014/main" id="{60AA57BC-7F17-4195-9BE5-F08EE4A8AAF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0" y="122872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77" name="settings-ledger-1">
            <a:extLst xmlns:a="http://schemas.openxmlformats.org/drawingml/2006/main">
              <a:ext uri="{FF2B5EF4-FFF2-40B4-BE49-F238E27FC236}">
                <a16:creationId xmlns:a16="http://schemas.microsoft.com/office/drawing/2014/main" id="{FA6604D6-47FC-44ED-847A-54FF6001E0A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9525000" y="122872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76" name="settings-ledger-0">
            <a:extLst xmlns:a="http://schemas.openxmlformats.org/drawingml/2006/main">
              <a:ext uri="{FF2B5EF4-FFF2-40B4-BE49-F238E27FC236}">
                <a16:creationId xmlns:a16="http://schemas.microsoft.com/office/drawing/2014/main" id="{C0F8BF6A-811C-4391-8D1D-C4CEB4C0681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573000" y="1195387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75" name="links-ledger-0">
            <a:extLst xmlns:a="http://schemas.openxmlformats.org/drawingml/2006/main">
              <a:ext uri="{FF2B5EF4-FFF2-40B4-BE49-F238E27FC236}">
                <a16:creationId xmlns:a16="http://schemas.microsoft.com/office/drawing/2014/main" id="{63DC054B-B82F-494B-A633-A38E10AA111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39125" y="119538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74" name="facts-links-2">
            <a:extLst xmlns:a="http://schemas.openxmlformats.org/drawingml/2006/main">
              <a:ext uri="{FF2B5EF4-FFF2-40B4-BE49-F238E27FC236}">
                <a16:creationId xmlns:a16="http://schemas.microsoft.com/office/drawing/2014/main" id="{E42A80D4-0E21-4A7F-B74E-97FA2D81ED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39125" y="102870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73" name="facts-links-1">
            <a:extLst xmlns:a="http://schemas.openxmlformats.org/drawingml/2006/main">
              <a:ext uri="{FF2B5EF4-FFF2-40B4-BE49-F238E27FC236}">
                <a16:creationId xmlns:a16="http://schemas.microsoft.com/office/drawing/2014/main" id="{6537AE0B-5A40-4D5E-A130-B3995BA6BC2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72250" y="1028700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72" name="facts-links-0">
            <a:extLst xmlns:a="http://schemas.openxmlformats.org/drawingml/2006/main">
              <a:ext uri="{FF2B5EF4-FFF2-40B4-BE49-F238E27FC236}">
                <a16:creationId xmlns:a16="http://schemas.microsoft.com/office/drawing/2014/main" id="{4E249AD3-9195-4C55-A729-2609E55626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72250" y="99536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71" name="facts-org-1">
            <a:extLst xmlns:a="http://schemas.openxmlformats.org/drawingml/2006/main">
              <a:ext uri="{FF2B5EF4-FFF2-40B4-BE49-F238E27FC236}">
                <a16:creationId xmlns:a16="http://schemas.microsoft.com/office/drawing/2014/main" id="{AB62CB5D-EE88-4E24-8BA4-006903B3C7A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09875" y="9258300"/>
            <a:ext cx="0" cy="33147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70" name="facts-org-0">
            <a:extLst xmlns:a="http://schemas.openxmlformats.org/drawingml/2006/main">
              <a:ext uri="{FF2B5EF4-FFF2-40B4-BE49-F238E27FC236}">
                <a16:creationId xmlns:a16="http://schemas.microsoft.com/office/drawing/2014/main" id="{CBE65323-3F22-4538-98FE-6621D71E0C6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809875" y="925830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BD420B-E32F-450B-84ED-8FBB110A535B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572250" y="81438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tailEnd type="triangle" w="med" len="med"/>
          </a:ln>
        </p:spPr>
      </p:cxnSp>
      <p:cxnSp>
        <p:nvCxn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478246-AD12-4C41-B33C-ACCDBA351013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572250" y="63341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tailEnd type="triangle" w="med" len="med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6E8C08-10EC-45C4-A47E-48F72AF5757E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572250" y="45243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tailEnd type="triangle" w="med" len="med"/>
          </a:ln>
        </p:spPr>
      </p:cxnSp>
      <p:cxnSp>
        <p:nvCxnSpPr>
          <p:cNvPr id="66" name="updates-intake-2">
            <a:extLst xmlns:a="http://schemas.openxmlformats.org/drawingml/2006/main">
              <a:ext uri="{FF2B5EF4-FFF2-40B4-BE49-F238E27FC236}">
                <a16:creationId xmlns:a16="http://schemas.microsoft.com/office/drawing/2014/main" id="{6EA47D22-E158-4565-B30A-28A2249FC02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572500" y="29051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dash"/>
            <a:tailEnd type="triangle" w="med" len="med"/>
          </a:ln>
        </p:spPr>
      </p:cxnSp>
      <p:cxnSp>
        <p:nvCxnSpPr>
          <p:cNvPr id="65" name="updates-intake-1">
            <a:extLst xmlns:a="http://schemas.openxmlformats.org/drawingml/2006/main">
              <a:ext uri="{FF2B5EF4-FFF2-40B4-BE49-F238E27FC236}">
                <a16:creationId xmlns:a16="http://schemas.microsoft.com/office/drawing/2014/main" id="{73D0AD5B-C7BD-4689-A776-39DE99BB3E62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8572500" y="2905125"/>
            <a:ext cx="42386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dash"/>
            <a:tailEnd type="none" w="med" len="med"/>
          </a:ln>
        </p:spPr>
      </p:cxnSp>
      <p:cxnSp>
        <p:nvCxnSpPr>
          <p:cNvPr id="64" name="updates-intake-0">
            <a:extLst xmlns:a="http://schemas.openxmlformats.org/drawingml/2006/main">
              <a:ext uri="{FF2B5EF4-FFF2-40B4-BE49-F238E27FC236}">
                <a16:creationId xmlns:a16="http://schemas.microsoft.com/office/drawing/2014/main" id="{C281E030-61EE-48AF-85A4-CBE470C8819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811125" y="24765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dash"/>
            <a:tailEnd type="none" w="med" len="med"/>
          </a:ln>
        </p:spPr>
      </p:cxnSp>
      <p:cxnSp>
        <p:nvCxnSpPr>
          <p:cNvPr id="63" name="people-intake-2">
            <a:extLst xmlns:a="http://schemas.openxmlformats.org/drawingml/2006/main">
              <a:ext uri="{FF2B5EF4-FFF2-40B4-BE49-F238E27FC236}">
                <a16:creationId xmlns:a16="http://schemas.microsoft.com/office/drawing/2014/main" id="{750EEABE-9806-4BA1-8D38-7638FA8FD45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715250" y="280987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62" name="people-intake-1">
            <a:extLst xmlns:a="http://schemas.openxmlformats.org/drawingml/2006/main">
              <a:ext uri="{FF2B5EF4-FFF2-40B4-BE49-F238E27FC236}">
                <a16:creationId xmlns:a16="http://schemas.microsoft.com/office/drawing/2014/main" id="{2E906178-AC00-459D-91FB-6F3B3C28FC71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715250" y="28098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61" name="people-intake-0">
            <a:extLst xmlns:a="http://schemas.openxmlformats.org/drawingml/2006/main">
              <a:ext uri="{FF2B5EF4-FFF2-40B4-BE49-F238E27FC236}">
                <a16:creationId xmlns:a16="http://schemas.microsoft.com/office/drawing/2014/main" id="{D94DDA7A-D3EF-431D-B422-492C69D762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53500" y="24765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60" name="transactions-intake-1">
            <a:extLst xmlns:a="http://schemas.openxmlformats.org/drawingml/2006/main">
              <a:ext uri="{FF2B5EF4-FFF2-40B4-BE49-F238E27FC236}">
                <a16:creationId xmlns:a16="http://schemas.microsoft.com/office/drawing/2014/main" id="{38F09BA2-A68C-4C16-8034-F33997EEF26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72250" y="24765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59" name="transactions-intake-0">
            <a:extLst xmlns:a="http://schemas.openxmlformats.org/drawingml/2006/main">
              <a:ext uri="{FF2B5EF4-FFF2-40B4-BE49-F238E27FC236}">
                <a16:creationId xmlns:a16="http://schemas.microsoft.com/office/drawing/2014/main" id="{F096EAF1-E7FD-4646-800A-DF969399ED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29250" y="2476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58" name="internal-intake-2">
            <a:extLst xmlns:a="http://schemas.openxmlformats.org/drawingml/2006/main">
              <a:ext uri="{FF2B5EF4-FFF2-40B4-BE49-F238E27FC236}">
                <a16:creationId xmlns:a16="http://schemas.microsoft.com/office/drawing/2014/main" id="{57E228BE-E507-45B3-A016-BC79DD1F98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29250" y="280987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triangle" w="med" len="med"/>
          </a:ln>
        </p:spPr>
      </p:cxnSp>
      <p:cxnSp>
        <p:nvCxnSpPr>
          <p:cNvPr id="57" name="internal-intake-1">
            <a:extLst xmlns:a="http://schemas.openxmlformats.org/drawingml/2006/main">
              <a:ext uri="{FF2B5EF4-FFF2-40B4-BE49-F238E27FC236}">
                <a16:creationId xmlns:a16="http://schemas.microsoft.com/office/drawing/2014/main" id="{B89E3D72-9A63-46B9-B377-4243E2E9C4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05000" y="2809875"/>
            <a:ext cx="3524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cxnSp>
        <p:nvCxnSpPr>
          <p:cNvPr id="56" name="internal-intake-0">
            <a:extLst xmlns:a="http://schemas.openxmlformats.org/drawingml/2006/main">
              <a:ext uri="{FF2B5EF4-FFF2-40B4-BE49-F238E27FC236}">
                <a16:creationId xmlns:a16="http://schemas.microsoft.com/office/drawing/2014/main" id="{CC2099B3-B600-430D-88B2-20F687A383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05000" y="24765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2988F"/>
            </a:solidFill>
            <a:prstDash val="solid"/>
            <a:tailEnd type="none" w="med" len="med"/>
          </a:ln>
        </p:spPr>
      </p:cxnSp>
      <p:sp>
        <p:nvSpPr>
          <p:cNvPr id="103" name="diagram-title">
            <a:extLst xmlns:a="http://schemas.openxmlformats.org/drawingml/2006/main">
              <a:ext uri="{FF2B5EF4-FFF2-40B4-BE49-F238E27FC236}">
                <a16:creationId xmlns:a16="http://schemas.microsoft.com/office/drawing/2014/main" id="{18E53750-10E9-461E-B77C-EBCDE92B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"/>
            <a:ext cx="1447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Company data integration and reporting</a:t>
            </a:r>
          </a:p>
        </p:txBody>
      </p:sp>
      <p:sp>
        <p:nvSpPr>
          <p:cNvPr id="2" name="internal">
            <a:extLst xmlns:a="http://schemas.openxmlformats.org/drawingml/2006/main">
              <a:ext uri="{FF2B5EF4-FFF2-40B4-BE49-F238E27FC236}">
                <a16:creationId xmlns:a16="http://schemas.microsoft.com/office/drawing/2014/main" id="{A71BF352-B149-4181-8CD4-46496337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30480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E7DFD1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3" name="internal-title">
            <a:extLst xmlns:a="http://schemas.openxmlformats.org/drawingml/2006/main">
              <a:ext uri="{FF2B5EF4-FFF2-40B4-BE49-F238E27FC236}">
                <a16:creationId xmlns:a16="http://schemas.microsoft.com/office/drawing/2014/main" id="{D4CD94FF-BBEF-4B25-B993-1B949E04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Internal records</a:t>
            </a:r>
          </a:p>
        </p:txBody>
      </p:sp>
      <p:sp>
        <p:nvSpPr>
          <p:cNvPr id="4" name="internal-body">
            <a:extLst xmlns:a="http://schemas.openxmlformats.org/drawingml/2006/main">
              <a:ext uri="{FF2B5EF4-FFF2-40B4-BE49-F238E27FC236}">
                <a16:creationId xmlns:a16="http://schemas.microsoft.com/office/drawing/2014/main" id="{E2B62EEE-905E-4DDB-A540-9BE27183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Reports, policies and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process maps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Business descriptions</a:t>
            </a:r>
          </a:p>
        </p:txBody>
      </p:sp>
      <p:sp>
        <p:nvSpPr>
          <p:cNvPr id="5" name="transactions">
            <a:extLst xmlns:a="http://schemas.openxmlformats.org/drawingml/2006/main">
              <a:ext uri="{FF2B5EF4-FFF2-40B4-BE49-F238E27FC236}">
                <a16:creationId xmlns:a16="http://schemas.microsoft.com/office/drawing/2014/main" id="{E77FED69-FD86-4B17-B0D3-25492487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43000"/>
            <a:ext cx="32385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E7DFD1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6" name="transactions-title">
            <a:extLst xmlns:a="http://schemas.openxmlformats.org/drawingml/2006/main">
              <a:ext uri="{FF2B5EF4-FFF2-40B4-BE49-F238E27FC236}">
                <a16:creationId xmlns:a16="http://schemas.microsoft.com/office/drawing/2014/main" id="{95BDBF76-7AF0-43F8-8249-3ADA0FA4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2573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Transaction records</a:t>
            </a:r>
          </a:p>
        </p:txBody>
      </p:sp>
      <p:sp>
        <p:nvSpPr>
          <p:cNvPr id="7" name="transactions-body">
            <a:extLst xmlns:a="http://schemas.openxmlformats.org/drawingml/2006/main">
              <a:ext uri="{FF2B5EF4-FFF2-40B4-BE49-F238E27FC236}">
                <a16:creationId xmlns:a16="http://schemas.microsoft.com/office/drawing/2014/main" id="{79C0C743-915F-4B0E-915E-BA6EBB4F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28775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Bank statements and transfers,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invoices and contracts</a:t>
            </a:r>
          </a:p>
        </p:txBody>
      </p:sp>
      <p:sp>
        <p:nvSpPr>
          <p:cNvPr id="8" name="people">
            <a:extLst xmlns:a="http://schemas.openxmlformats.org/drawingml/2006/main">
              <a:ext uri="{FF2B5EF4-FFF2-40B4-BE49-F238E27FC236}">
                <a16:creationId xmlns:a16="http://schemas.microsoft.com/office/drawing/2014/main" id="{5D27F154-6232-4C73-A809-BC14BEF2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04800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E7DFD1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9" name="people-title">
            <a:extLst xmlns:a="http://schemas.openxmlformats.org/drawingml/2006/main">
              <a:ext uri="{FF2B5EF4-FFF2-40B4-BE49-F238E27FC236}">
                <a16:creationId xmlns:a16="http://schemas.microsoft.com/office/drawing/2014/main" id="{11318834-0451-4D5E-A16B-610BEC88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573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People records</a:t>
            </a:r>
          </a:p>
        </p:txBody>
      </p:sp>
      <p:sp>
        <p:nvSpPr>
          <p:cNvPr id="10" name="people-body">
            <a:extLst xmlns:a="http://schemas.openxmlformats.org/drawingml/2006/main">
              <a:ext uri="{FF2B5EF4-FFF2-40B4-BE49-F238E27FC236}">
                <a16:creationId xmlns:a16="http://schemas.microsoft.com/office/drawing/2014/main" id="{1AB42A10-6192-45F2-8824-29EDCB43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28775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Employees, departments, roles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and payslips</a:t>
            </a:r>
          </a:p>
        </p:txBody>
      </p:sp>
      <p:sp>
        <p:nvSpPr>
          <p:cNvPr id="11" name="updates">
            <a:extLst xmlns:a="http://schemas.openxmlformats.org/drawingml/2006/main">
              <a:ext uri="{FF2B5EF4-FFF2-40B4-BE49-F238E27FC236}">
                <a16:creationId xmlns:a16="http://schemas.microsoft.com/office/drawing/2014/main" id="{2BE74890-D07C-45ED-93A6-9EF6BF5C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43000"/>
            <a:ext cx="3333750" cy="133350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DED9E6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12" name="updates-title">
            <a:extLst xmlns:a="http://schemas.openxmlformats.org/drawingml/2006/main">
              <a:ext uri="{FF2B5EF4-FFF2-40B4-BE49-F238E27FC236}">
                <a16:creationId xmlns:a16="http://schemas.microsoft.com/office/drawing/2014/main" id="{7ECC5B8C-2A1B-4679-B1AD-D709FCDC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25730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Ongoing updates</a:t>
            </a:r>
          </a:p>
        </p:txBody>
      </p:sp>
      <p:sp>
        <p:nvSpPr>
          <p:cNvPr id="13" name="updates-body">
            <a:extLst xmlns:a="http://schemas.openxmlformats.org/drawingml/2006/main">
              <a:ext uri="{FF2B5EF4-FFF2-40B4-BE49-F238E27FC236}">
                <a16:creationId xmlns:a16="http://schemas.microsoft.com/office/drawing/2014/main" id="{F9C36336-C0D1-4F93-B5EB-C5E6C0AE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628775"/>
            <a:ext cx="3067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Refresh affected records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and retain published versions</a:t>
            </a:r>
          </a:p>
        </p:txBody>
      </p:sp>
      <p:sp>
        <p:nvSpPr>
          <p:cNvPr id="14" name="intake">
            <a:extLst xmlns:a="http://schemas.openxmlformats.org/drawingml/2006/main">
              <a:ext uri="{FF2B5EF4-FFF2-40B4-BE49-F238E27FC236}">
                <a16:creationId xmlns:a16="http://schemas.microsoft.com/office/drawing/2014/main" id="{D1B75229-566D-451F-9AA5-FE7CDAF0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457200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BE3E7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15" name="intake-title">
            <a:extLst xmlns:a="http://schemas.openxmlformats.org/drawingml/2006/main">
              <a:ext uri="{FF2B5EF4-FFF2-40B4-BE49-F238E27FC236}">
                <a16:creationId xmlns:a16="http://schemas.microsoft.com/office/drawing/2014/main" id="{B89DA7C7-62E9-4159-915C-9A66D57F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575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1 Intake and evidence archive</a:t>
            </a:r>
          </a:p>
        </p:txBody>
      </p:sp>
      <p:sp>
        <p:nvSpPr>
          <p:cNvPr id="16" name="intake-body">
            <a:extLst xmlns:a="http://schemas.openxmlformats.org/drawingml/2006/main">
              <a:ext uri="{FF2B5EF4-FFF2-40B4-BE49-F238E27FC236}">
                <a16:creationId xmlns:a16="http://schemas.microsoft.com/office/drawing/2014/main" id="{3457118F-4170-4074-A647-FBFA4D21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025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Authorized access, uploads or connectors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Keep originals, sources, versions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and access permissions</a:t>
            </a:r>
          </a:p>
        </p:txBody>
      </p:sp>
      <p:sp>
        <p:nvSpPr>
          <p:cNvPr id="17" name="extract">
            <a:extLst xmlns:a="http://schemas.openxmlformats.org/drawingml/2006/main">
              <a:ext uri="{FF2B5EF4-FFF2-40B4-BE49-F238E27FC236}">
                <a16:creationId xmlns:a16="http://schemas.microsoft.com/office/drawing/2014/main" id="{F7248D1B-E3DC-4D4F-B395-0873CD31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457200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BE3E7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18" name="extract-title">
            <a:extLst xmlns:a="http://schemas.openxmlformats.org/drawingml/2006/main">
              <a:ext uri="{FF2B5EF4-FFF2-40B4-BE49-F238E27FC236}">
                <a16:creationId xmlns:a16="http://schemas.microsoft.com/office/drawing/2014/main" id="{E89D0174-F65C-457E-9B64-D7078392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6730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2 AI extraction and understanding</a:t>
            </a:r>
          </a:p>
        </p:txBody>
      </p:sp>
      <p:sp>
        <p:nvSpPr>
          <p:cNvPr id="19" name="extract-body">
            <a:extLst xmlns:a="http://schemas.openxmlformats.org/drawingml/2006/main">
              <a:ext uri="{FF2B5EF4-FFF2-40B4-BE49-F238E27FC236}">
                <a16:creationId xmlns:a16="http://schemas.microsoft.com/office/drawing/2014/main" id="{F7E9B44D-E76F-4D28-A89B-45171D9E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38775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OCR, table and document parsing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Extract entities, amounts, dates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and business relationships</a:t>
            </a:r>
          </a:p>
        </p:txBody>
      </p:sp>
      <p:sp>
        <p:nvSpPr>
          <p:cNvPr id="20" name="normalize">
            <a:extLst xmlns:a="http://schemas.openxmlformats.org/drawingml/2006/main">
              <a:ext uri="{FF2B5EF4-FFF2-40B4-BE49-F238E27FC236}">
                <a16:creationId xmlns:a16="http://schemas.microsoft.com/office/drawing/2014/main" id="{248C55B5-C8E8-43DD-AE05-4B27D105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762750"/>
            <a:ext cx="457200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BE3E7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21" name="normalize-title">
            <a:extLst xmlns:a="http://schemas.openxmlformats.org/drawingml/2006/main">
              <a:ext uri="{FF2B5EF4-FFF2-40B4-BE49-F238E27FC236}">
                <a16:creationId xmlns:a16="http://schemas.microsoft.com/office/drawing/2014/main" id="{EA9F4973-C4B4-49FE-896E-C1873978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87705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3 Cleaning and identity resolution</a:t>
            </a:r>
          </a:p>
        </p:txBody>
      </p:sp>
      <p:sp>
        <p:nvSpPr>
          <p:cNvPr id="22" name="normalize-body">
            <a:extLst xmlns:a="http://schemas.openxmlformats.org/drawingml/2006/main">
              <a:ext uri="{FF2B5EF4-FFF2-40B4-BE49-F238E27FC236}">
                <a16:creationId xmlns:a16="http://schemas.microsoft.com/office/drawing/2014/main" id="{3ED1DC70-0169-42C5-9B49-B345C008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248525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Deduplicate, standardize and retain currencies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Link records for the same employees,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customers, suppliers and accounts</a:t>
            </a:r>
          </a:p>
        </p:txBody>
      </p:sp>
      <p:sp>
        <p:nvSpPr>
          <p:cNvPr id="23" name="facts">
            <a:extLst xmlns:a="http://schemas.openxmlformats.org/drawingml/2006/main">
              <a:ext uri="{FF2B5EF4-FFF2-40B4-BE49-F238E27FC236}">
                <a16:creationId xmlns:a16="http://schemas.microsoft.com/office/drawing/2014/main" id="{C37771A7-C61B-465B-AD8A-D09C813A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8572500"/>
            <a:ext cx="457200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8E1D4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24" name="facts-title">
            <a:extLst xmlns:a="http://schemas.openxmlformats.org/drawingml/2006/main">
              <a:ext uri="{FF2B5EF4-FFF2-40B4-BE49-F238E27FC236}">
                <a16:creationId xmlns:a16="http://schemas.microsoft.com/office/drawing/2014/main" id="{D61BFF3D-4F07-4FEB-BEAF-3F7CA5E5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868680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4 Company facts and event model</a:t>
            </a:r>
          </a:p>
        </p:txBody>
      </p:sp>
      <p:sp>
        <p:nvSpPr>
          <p:cNvPr id="25" name="facts-body">
            <a:extLst xmlns:a="http://schemas.openxmlformats.org/drawingml/2006/main">
              <a:ext uri="{FF2B5EF4-FFF2-40B4-BE49-F238E27FC236}">
                <a16:creationId xmlns:a16="http://schemas.microsoft.com/office/drawing/2014/main" id="{AF305A71-6CCE-4894-AB9E-CB8FEABB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9058275"/>
            <a:ext cx="4305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Who belongs to whom, who pays whom,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and which business activity is involved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Link each fact to evidence and confidence</a:t>
            </a:r>
          </a:p>
        </p:txBody>
      </p:sp>
      <p:sp>
        <p:nvSpPr>
          <p:cNvPr id="26" name="links">
            <a:extLst xmlns:a="http://schemas.openxmlformats.org/drawingml/2006/main">
              <a:ext uri="{FF2B5EF4-FFF2-40B4-BE49-F238E27FC236}">
                <a16:creationId xmlns:a16="http://schemas.microsoft.com/office/drawing/2014/main" id="{46F861F8-A8BC-4CCC-8EAA-BC58A13A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572750"/>
            <a:ext cx="40957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BE3E7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27" name="links-title">
            <a:extLst xmlns:a="http://schemas.openxmlformats.org/drawingml/2006/main">
              <a:ext uri="{FF2B5EF4-FFF2-40B4-BE49-F238E27FC236}">
                <a16:creationId xmlns:a16="http://schemas.microsoft.com/office/drawing/2014/main" id="{0808E08B-2165-4D6B-9D13-9333F27D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68705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Transaction evidence links</a:t>
            </a:r>
          </a:p>
        </p:txBody>
      </p:sp>
      <p:sp>
        <p:nvSpPr>
          <p:cNvPr id="28" name="links-body">
            <a:extLst xmlns:a="http://schemas.openxmlformats.org/drawingml/2006/main">
              <a:ext uri="{FF2B5EF4-FFF2-40B4-BE49-F238E27FC236}">
                <a16:creationId xmlns:a16="http://schemas.microsoft.com/office/drawing/2014/main" id="{84123077-D9B5-42A2-B68B-0BD72E37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58525"/>
            <a:ext cx="3829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Link contracts, invoices, payments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and bank records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Link staff, payroll batches and payslips</a:t>
            </a:r>
          </a:p>
        </p:txBody>
      </p:sp>
      <p:sp>
        <p:nvSpPr>
          <p:cNvPr id="29" name="settings">
            <a:extLst xmlns:a="http://schemas.openxmlformats.org/drawingml/2006/main">
              <a:ext uri="{FF2B5EF4-FFF2-40B4-BE49-F238E27FC236}">
                <a16:creationId xmlns:a16="http://schemas.microsoft.com/office/drawing/2014/main" id="{9941A698-3F39-4623-9930-099183BF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0572750"/>
            <a:ext cx="342900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E7DFD1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30" name="settings-title">
            <a:extLst xmlns:a="http://schemas.openxmlformats.org/drawingml/2006/main">
              <a:ext uri="{FF2B5EF4-FFF2-40B4-BE49-F238E27FC236}">
                <a16:creationId xmlns:a16="http://schemas.microsoft.com/office/drawing/2014/main" id="{801CCE7D-D4F1-42EA-8240-2610ECA3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068705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Scope and balances</a:t>
            </a:r>
          </a:p>
        </p:txBody>
      </p:sp>
      <p:sp>
        <p:nvSpPr>
          <p:cNvPr id="31" name="settings-body">
            <a:extLst xmlns:a="http://schemas.openxmlformats.org/drawingml/2006/main">
              <a:ext uri="{FF2B5EF4-FFF2-40B4-BE49-F238E27FC236}">
                <a16:creationId xmlns:a16="http://schemas.microsoft.com/office/drawing/2014/main" id="{D74CCB0F-2395-4900-BCF4-8D1BDC80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1058525"/>
            <a:ext cx="3162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Entities, period and currencies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Policies and chart of accounts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Opening balances</a:t>
            </a:r>
          </a:p>
        </p:txBody>
      </p:sp>
      <p:sp>
        <p:nvSpPr>
          <p:cNvPr id="32" name="org">
            <a:extLst xmlns:a="http://schemas.openxmlformats.org/drawingml/2006/main">
              <a:ext uri="{FF2B5EF4-FFF2-40B4-BE49-F238E27FC236}">
                <a16:creationId xmlns:a16="http://schemas.microsoft.com/office/drawing/2014/main" id="{EEC30D07-7C4B-49B0-BE38-E0A3DEE1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0"/>
            <a:ext cx="40957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8E1D4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33" name="org-title">
            <a:extLst xmlns:a="http://schemas.openxmlformats.org/drawingml/2006/main">
              <a:ext uri="{FF2B5EF4-FFF2-40B4-BE49-F238E27FC236}">
                <a16:creationId xmlns:a16="http://schemas.microsoft.com/office/drawing/2014/main" id="{4467BEC1-E348-4C7C-BC01-816DAF30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68730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Draft company structure</a:t>
            </a:r>
          </a:p>
        </p:txBody>
      </p:sp>
      <p:sp>
        <p:nvSpPr>
          <p:cNvPr id="34" name="org-body">
            <a:extLst xmlns:a="http://schemas.openxmlformats.org/drawingml/2006/main">
              <a:ext uri="{FF2B5EF4-FFF2-40B4-BE49-F238E27FC236}">
                <a16:creationId xmlns:a16="http://schemas.microsoft.com/office/drawing/2014/main" id="{9C701FC0-E2D3-4119-B324-BC0EC526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058775"/>
            <a:ext cx="3829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Legal entities, departments, roles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and reporting lines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Processes, responsibilities and approvals</a:t>
            </a:r>
          </a:p>
        </p:txBody>
      </p:sp>
      <p:sp>
        <p:nvSpPr>
          <p:cNvPr id="35" name="ledger">
            <a:extLst xmlns:a="http://schemas.openxmlformats.org/drawingml/2006/main">
              <a:ext uri="{FF2B5EF4-FFF2-40B4-BE49-F238E27FC236}">
                <a16:creationId xmlns:a16="http://schemas.microsoft.com/office/drawing/2014/main" id="{556FC1C1-7EFB-4223-BA27-8D359B74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573000"/>
            <a:ext cx="40957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BE3E7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36" name="ledger-title">
            <a:extLst xmlns:a="http://schemas.openxmlformats.org/drawingml/2006/main">
              <a:ext uri="{FF2B5EF4-FFF2-40B4-BE49-F238E27FC236}">
                <a16:creationId xmlns:a16="http://schemas.microsoft.com/office/drawing/2014/main" id="{AA8B24AE-310B-4F57-8F44-F08C8B06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268730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5 Draft accounting records</a:t>
            </a:r>
          </a:p>
        </p:txBody>
      </p:sp>
      <p:sp>
        <p:nvSpPr>
          <p:cNvPr id="37" name="ledger-body">
            <a:extLst xmlns:a="http://schemas.openxmlformats.org/drawingml/2006/main">
              <a:ext uri="{FF2B5EF4-FFF2-40B4-BE49-F238E27FC236}">
                <a16:creationId xmlns:a16="http://schemas.microsoft.com/office/drawing/2014/main" id="{0809D4E8-AF38-4582-BA56-241BBC91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058775"/>
            <a:ext cx="3829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Classify accounts and accounting periods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Build receivables, payables, payroll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and general and subsidiary ledgers</a:t>
            </a:r>
          </a:p>
        </p:txBody>
      </p:sp>
      <p:sp>
        <p:nvSpPr>
          <p:cNvPr id="38" name="checks">
            <a:extLst xmlns:a="http://schemas.openxmlformats.org/drawingml/2006/main">
              <a:ext uri="{FF2B5EF4-FFF2-40B4-BE49-F238E27FC236}">
                <a16:creationId xmlns:a16="http://schemas.microsoft.com/office/drawing/2014/main" id="{4C8EEE33-72B6-4465-B7D2-F208B0BF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573250"/>
            <a:ext cx="47625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E8D8D3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39" name="checks-title">
            <a:extLst xmlns:a="http://schemas.openxmlformats.org/drawingml/2006/main">
              <a:ext uri="{FF2B5EF4-FFF2-40B4-BE49-F238E27FC236}">
                <a16:creationId xmlns:a16="http://schemas.microsoft.com/office/drawing/2014/main" id="{64A75352-14A7-499F-B68A-D1AB11E3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687550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6 Evidence and consistency checks</a:t>
            </a:r>
          </a:p>
        </p:txBody>
      </p:sp>
      <p:sp>
        <p:nvSpPr>
          <p:cNvPr id="40" name="checks-body">
            <a:extLst xmlns:a="http://schemas.openxmlformats.org/drawingml/2006/main">
              <a:ext uri="{FF2B5EF4-FFF2-40B4-BE49-F238E27FC236}">
                <a16:creationId xmlns:a16="http://schemas.microsoft.com/office/drawing/2014/main" id="{7B73FB93-B311-4C96-BFC1-1D2472D8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059025"/>
            <a:ext cx="4495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Is the evidence complete? Do amounts agree?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Check conflicting relationships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and duplicate records</a:t>
            </a:r>
          </a:p>
        </p:txBody>
      </p:sp>
      <p:sp>
        <p:nvSpPr>
          <p:cNvPr id="41" name="publish">
            <a:extLst xmlns:a="http://schemas.openxmlformats.org/drawingml/2006/main">
              <a:ext uri="{FF2B5EF4-FFF2-40B4-BE49-F238E27FC236}">
                <a16:creationId xmlns:a16="http://schemas.microsoft.com/office/drawing/2014/main" id="{0EAC673B-BCCE-4F8D-A87B-B3DED87E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764000"/>
            <a:ext cx="4572000" cy="1476375"/>
          </a:xfrm>
          <a:prstGeom xmlns:a="http://schemas.openxmlformats.org/drawingml/2006/main" prst="roundRect">
            <a:avLst>
              <a:gd name="adj" fmla="val 14194"/>
            </a:avLst>
          </a:prstGeom>
          <a:solidFill xmlns:a="http://schemas.openxmlformats.org/drawingml/2006/main">
            <a:srgbClr val="DED9E6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42" name="publish-title">
            <a:extLst xmlns:a="http://schemas.openxmlformats.org/drawingml/2006/main">
              <a:ext uri="{FF2B5EF4-FFF2-40B4-BE49-F238E27FC236}">
                <a16:creationId xmlns:a16="http://schemas.microsoft.com/office/drawing/2014/main" id="{34661EE8-0508-4CAE-B0FB-75F238FE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87830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7 Authorized approval and release</a:t>
            </a:r>
          </a:p>
        </p:txBody>
      </p:sp>
      <p:sp>
        <p:nvSpPr>
          <p:cNvPr id="43" name="publish-body">
            <a:extLst xmlns:a="http://schemas.openxmlformats.org/drawingml/2006/main">
              <a:ext uri="{FF2B5EF4-FFF2-40B4-BE49-F238E27FC236}">
                <a16:creationId xmlns:a16="http://schemas.microsoft.com/office/drawing/2014/main" id="{D01F05D4-D62F-4C91-9196-8C2A81B6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249775"/>
            <a:ext cx="43053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Distinguish source facts, AI inferences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and human confirmations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Retain approvals and the evidence trail</a:t>
            </a:r>
          </a:p>
        </p:txBody>
      </p:sp>
      <p:sp>
        <p:nvSpPr>
          <p:cNvPr id="44" name="review">
            <a:extLst xmlns:a="http://schemas.openxmlformats.org/drawingml/2006/main">
              <a:ext uri="{FF2B5EF4-FFF2-40B4-BE49-F238E27FC236}">
                <a16:creationId xmlns:a16="http://schemas.microsoft.com/office/drawing/2014/main" id="{F61B2F77-A4EA-4EFC-879B-3F37C61B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764000"/>
            <a:ext cx="4572000" cy="1476375"/>
          </a:xfrm>
          <a:prstGeom xmlns:a="http://schemas.openxmlformats.org/drawingml/2006/main" prst="roundRect">
            <a:avLst>
              <a:gd name="adj" fmla="val 14194"/>
            </a:avLst>
          </a:prstGeom>
          <a:solidFill xmlns:a="http://schemas.openxmlformats.org/drawingml/2006/main">
            <a:srgbClr val="E8D8D3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45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526AB6A3-40B3-4B6B-A3D5-9021682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87830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Exceptions and human review</a:t>
            </a:r>
          </a:p>
        </p:txBody>
      </p:sp>
      <p:sp>
        <p:nvSpPr>
          <p:cNvPr id="46" name="review-body">
            <a:extLst xmlns:a="http://schemas.openxmlformats.org/drawingml/2006/main">
              <a:ext uri="{FF2B5EF4-FFF2-40B4-BE49-F238E27FC236}">
                <a16:creationId xmlns:a16="http://schemas.microsoft.com/office/drawing/2014/main" id="{95270BD1-F40B-4239-99CB-2240536F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249775"/>
            <a:ext cx="43053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Request evidence, correct extraction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and confirm ownership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Finance or business owners review</a:t>
            </a:r>
          </a:p>
        </p:txBody>
      </p:sp>
      <p:sp>
        <p:nvSpPr>
          <p:cNvPr id="47" name="structure">
            <a:extLst xmlns:a="http://schemas.openxmlformats.org/drawingml/2006/main">
              <a:ext uri="{FF2B5EF4-FFF2-40B4-BE49-F238E27FC236}">
                <a16:creationId xmlns:a16="http://schemas.microsoft.com/office/drawing/2014/main" id="{B5591D12-D014-42F2-9532-371041CB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431000"/>
            <a:ext cx="43815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D8E1D4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48" name="structure-title">
            <a:extLst xmlns:a="http://schemas.openxmlformats.org/drawingml/2006/main">
              <a:ext uri="{FF2B5EF4-FFF2-40B4-BE49-F238E27FC236}">
                <a16:creationId xmlns:a16="http://schemas.microsoft.com/office/drawing/2014/main" id="{659B9765-793B-4DEC-869E-35FBAAA0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453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Company structure and processes</a:t>
            </a:r>
          </a:p>
        </p:txBody>
      </p:sp>
      <p:sp>
        <p:nvSpPr>
          <p:cNvPr id="49" name="structure-body">
            <a:extLst xmlns:a="http://schemas.openxmlformats.org/drawingml/2006/main">
              <a:ext uri="{FF2B5EF4-FFF2-40B4-BE49-F238E27FC236}">
                <a16:creationId xmlns:a16="http://schemas.microsoft.com/office/drawing/2014/main" id="{DCEDBB1F-3C64-4FED-8E18-18972EB4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916775"/>
            <a:ext cx="4114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Organisation and legal entity charts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Business process maps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Responsibilities and approval paths</a:t>
            </a:r>
          </a:p>
        </p:txBody>
      </p:sp>
      <p:sp>
        <p:nvSpPr>
          <p:cNvPr id="50" name="reports">
            <a:extLst xmlns:a="http://schemas.openxmlformats.org/drawingml/2006/main">
              <a:ext uri="{FF2B5EF4-FFF2-40B4-BE49-F238E27FC236}">
                <a16:creationId xmlns:a16="http://schemas.microsoft.com/office/drawing/2014/main" id="{B5E0FD24-6FA8-446C-9CC1-B7194EEB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0"/>
            <a:ext cx="45720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D8E1D4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51" name="reports-title">
            <a:extLst xmlns:a="http://schemas.openxmlformats.org/drawingml/2006/main">
              <a:ext uri="{FF2B5EF4-FFF2-40B4-BE49-F238E27FC236}">
                <a16:creationId xmlns:a16="http://schemas.microsoft.com/office/drawing/2014/main" id="{223DB4C3-7221-4D6A-AB04-9B26C0D3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545300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Financial statements</a:t>
            </a:r>
          </a:p>
        </p:txBody>
      </p:sp>
      <p:sp>
        <p:nvSpPr>
          <p:cNvPr id="52" name="reports-body">
            <a:extLst xmlns:a="http://schemas.openxmlformats.org/drawingml/2006/main">
              <a:ext uri="{FF2B5EF4-FFF2-40B4-BE49-F238E27FC236}">
                <a16:creationId xmlns:a16="http://schemas.microsoft.com/office/drawing/2014/main" id="{C1961D34-2CA2-48A3-B3EE-D5F705D6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916775"/>
            <a:ext cx="430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Profit and loss, balance sheet,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and cash flow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Trace to records and original evidence</a:t>
            </a:r>
          </a:p>
        </p:txBody>
      </p:sp>
      <p:sp>
        <p:nvSpPr>
          <p:cNvPr id="53" name="operations">
            <a:extLst xmlns:a="http://schemas.openxmlformats.org/drawingml/2006/main">
              <a:ext uri="{FF2B5EF4-FFF2-40B4-BE49-F238E27FC236}">
                <a16:creationId xmlns:a16="http://schemas.microsoft.com/office/drawing/2014/main" id="{E822B203-BE9F-4196-BE0E-6C97958C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431000"/>
            <a:ext cx="438150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D8E1D4"/>
          </a:solidFill>
          <a:ln xmlns:a="http://schemas.openxmlformats.org/drawingml/2006/main" w="14288">
            <a:solidFill>
              <a:srgbClr val="92988F"/>
            </a:solidFill>
          </a:ln>
        </p:spPr>
      </p:sp>
      <p:sp>
        <p:nvSpPr>
          <p:cNvPr id="54" name="operations-title">
            <a:extLst xmlns:a="http://schemas.openxmlformats.org/drawingml/2006/main">
              <a:ext uri="{FF2B5EF4-FFF2-40B4-BE49-F238E27FC236}">
                <a16:creationId xmlns:a16="http://schemas.microsoft.com/office/drawing/2014/main" id="{AC7E69EA-DD2B-472D-8D4A-12CC29F9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5453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Operating and people reports</a:t>
            </a:r>
          </a:p>
        </p:txBody>
      </p:sp>
      <p:sp>
        <p:nvSpPr>
          <p:cNvPr id="55" name="operations-body">
            <a:extLst xmlns:a="http://schemas.openxmlformats.org/drawingml/2006/main">
              <a:ext uri="{FF2B5EF4-FFF2-40B4-BE49-F238E27FC236}">
                <a16:creationId xmlns:a16="http://schemas.microsoft.com/office/drawing/2014/main" id="{EE1959ED-C0F0-4DDA-9B15-6F752F8D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916775"/>
            <a:ext cx="4114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Receivables and payables ageing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Department costs, payroll reports</a:t>
            </a:r>
          </a:p>
          <a:p xmlns:a="http://schemas.openxmlformats.org/drawingml/2006/main">
            <a:pPr algn="ctr">
              <a:defRPr sz="1650" b="0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13E"/>
                </a:solidFill>
                <a:latin typeface="Arial"/>
                <a:ea typeface="Arial"/>
                <a:cs typeface="Arial"/>
              </a:rPr>
              <a:t>Payment lists and exception queues</a:t>
            </a:r>
          </a:p>
        </p:txBody>
      </p:sp>
      <p:sp>
        <p:nvSpPr>
          <p:cNvPr id="88" name="pass-label">
            <a:extLst xmlns:a="http://schemas.openxmlformats.org/drawingml/2006/main">
              <a:ext uri="{FF2B5EF4-FFF2-40B4-BE49-F238E27FC236}">
                <a16:creationId xmlns:a16="http://schemas.microsoft.com/office/drawing/2014/main" id="{4BCF136D-9C20-45C5-9EBB-3088D5B2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163925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Checks passed</a:t>
            </a:r>
          </a:p>
        </p:txBody>
      </p:sp>
      <p:sp>
        <p:nvSpPr>
          <p:cNvPr id="89" name="review-label">
            <a:extLst xmlns:a="http://schemas.openxmlformats.org/drawingml/2006/main">
              <a:ext uri="{FF2B5EF4-FFF2-40B4-BE49-F238E27FC236}">
                <a16:creationId xmlns:a16="http://schemas.microsoft.com/office/drawing/2014/main" id="{952209BC-4A83-491E-AB57-819A941E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63925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Missing, conflicting or uncertain</a:t>
            </a:r>
          </a:p>
        </p:txBody>
      </p:sp>
      <p:sp>
        <p:nvSpPr>
          <p:cNvPr id="93" name="correction-label">
            <a:extLst xmlns:a="http://schemas.openxmlformats.org/drawingml/2006/main">
              <a:ext uri="{FF2B5EF4-FFF2-40B4-BE49-F238E27FC236}">
                <a16:creationId xmlns:a16="http://schemas.microsoft.com/office/drawing/2014/main" id="{DD0A9789-CD39-44BA-BDA5-4DC397E6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810625"/>
            <a:ext cx="552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3541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413E"/>
                </a:solidFill>
                <a:latin typeface="Arial"/>
                <a:ea typeface="Arial"/>
                <a:cs typeface="Arial"/>
              </a:rPr>
              <a:t>Additional evidence and confirmed corrections</a:t>
            </a:r>
          </a:p>
        </p:txBody>
      </p:sp>
    </p:spTree>
    <p:extLst>
      <p:ext uri="{BB962C8B-B14F-4D97-AF65-F5344CB8AC3E}">
        <p14:creationId xmlns:p14="http://schemas.microsoft.com/office/powerpoint/2010/main" val="1466765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2026-10-29T03:58:39.8870000Z</dcterms:created>
  <dcterms:modified xsi:type="dcterms:W3CDTF">2026-10-29T03:58:39.8870000Z</dcterms:modified>
</coreProperties>
</file>